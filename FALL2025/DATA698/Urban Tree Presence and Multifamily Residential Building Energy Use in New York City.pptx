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7"/>
  </p:notesMasterIdLst>
  <p:handoutMasterIdLst>
    <p:handoutMasterId r:id="rId48"/>
  </p:handoutMasterIdLst>
  <p:sldIdLst>
    <p:sldId id="322" r:id="rId5"/>
    <p:sldId id="321" r:id="rId6"/>
    <p:sldId id="361" r:id="rId7"/>
    <p:sldId id="318" r:id="rId8"/>
    <p:sldId id="325" r:id="rId9"/>
    <p:sldId id="328" r:id="rId10"/>
    <p:sldId id="329" r:id="rId11"/>
    <p:sldId id="324" r:id="rId12"/>
    <p:sldId id="317" r:id="rId13"/>
    <p:sldId id="316" r:id="rId14"/>
    <p:sldId id="330" r:id="rId15"/>
    <p:sldId id="331" r:id="rId16"/>
    <p:sldId id="334" r:id="rId17"/>
    <p:sldId id="332" r:id="rId18"/>
    <p:sldId id="335" r:id="rId19"/>
    <p:sldId id="333" r:id="rId20"/>
    <p:sldId id="343" r:id="rId21"/>
    <p:sldId id="336" r:id="rId22"/>
    <p:sldId id="337" r:id="rId23"/>
    <p:sldId id="340" r:id="rId24"/>
    <p:sldId id="341" r:id="rId25"/>
    <p:sldId id="342" r:id="rId26"/>
    <p:sldId id="344" r:id="rId27"/>
    <p:sldId id="345" r:id="rId28"/>
    <p:sldId id="346" r:id="rId29"/>
    <p:sldId id="347" r:id="rId30"/>
    <p:sldId id="348" r:id="rId31"/>
    <p:sldId id="349" r:id="rId32"/>
    <p:sldId id="350" r:id="rId33"/>
    <p:sldId id="338" r:id="rId34"/>
    <p:sldId id="339" r:id="rId35"/>
    <p:sldId id="315" r:id="rId36"/>
    <p:sldId id="355" r:id="rId37"/>
    <p:sldId id="354" r:id="rId38"/>
    <p:sldId id="356" r:id="rId39"/>
    <p:sldId id="357" r:id="rId40"/>
    <p:sldId id="358" r:id="rId41"/>
    <p:sldId id="362" r:id="rId42"/>
    <p:sldId id="359" r:id="rId43"/>
    <p:sldId id="363" r:id="rId44"/>
    <p:sldId id="364" r:id="rId45"/>
    <p:sldId id="310"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B8BF"/>
    <a:srgbClr val="5869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p:cViewPr varScale="1">
        <p:scale>
          <a:sx n="105" d="100"/>
          <a:sy n="105" d="100"/>
        </p:scale>
        <p:origin x="834" y="114"/>
      </p:cViewPr>
      <p:guideLst/>
    </p:cSldViewPr>
  </p:slideViewPr>
  <p:outlineViewPr>
    <p:cViewPr>
      <p:scale>
        <a:sx n="33" d="100"/>
        <a:sy n="33" d="100"/>
      </p:scale>
      <p:origin x="0" y="-777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BE6205E-B305-4B90-9534-3C5E99A0275E}" type="datetimeFigureOut">
              <a:rPr lang="en-US" smtClean="0"/>
              <a:t>12/15/2025</a:t>
            </a:fld>
            <a:endParaRPr lang="en-US" dirty="0"/>
          </a:p>
        </p:txBody>
      </p:sp>
      <p:sp>
        <p:nvSpPr>
          <p:cNvPr id="4" name="Footer Placeholder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AC623C-86E0-4A85-83FB-F4A716956FD4}" type="slidenum">
              <a:rPr lang="en-US" smtClean="0"/>
              <a:t>‹#›</a:t>
            </a:fld>
            <a:endParaRPr lang="en-US" dirty="0"/>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3722F1-E430-42A1-A473-1759336AECCE}" type="datetimeFigureOut">
              <a:rPr lang="en-US" smtClean="0"/>
              <a:t>12/15/2025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7D7554-D10C-4E29-B8E6-BB7111FA614F}" type="slidenum">
              <a:rPr lang="en-US" smtClean="0"/>
              <a:t>‹#›</a:t>
            </a:fld>
            <a:endParaRPr lang="en-US" dirty="0"/>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anchor="b">
            <a:normAutofit/>
          </a:bodyPr>
          <a:lstStyle>
            <a:lvl1pPr>
              <a:defRPr sz="6000">
                <a:solidFill>
                  <a:schemeClr val="bg1"/>
                </a:solidFill>
              </a:defRPr>
            </a:lvl1pPr>
          </a:lstStyle>
          <a:p>
            <a:r>
              <a:rPr lang="en-US" dirty="0"/>
              <a:t>Click to add title</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anchor="ct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6642169" y="-1"/>
            <a:ext cx="4635426" cy="6857999"/>
          </a:xfrm>
        </p:spPr>
        <p:txBody>
          <a:bodyPr>
            <a:normAutofit/>
          </a:bodyPr>
          <a:lstStyle>
            <a:lvl1pPr marL="0" indent="0" algn="ctr">
              <a:buNone/>
              <a:defRPr sz="2000"/>
            </a:lvl1pPr>
          </a:lstStyle>
          <a:p>
            <a:r>
              <a:rPr lang="en-US"/>
              <a:t>Click icon to add picture</a:t>
            </a:r>
            <a:endParaRPr lang="en-US" dirty="0"/>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915600" y="0"/>
            <a:ext cx="10361995" cy="3429000"/>
          </a:xfrm>
        </p:spPr>
        <p:txBody>
          <a:bodyPr>
            <a:normAutofit/>
          </a:bodyPr>
          <a:lstStyle>
            <a:lvl1pPr marL="0" indent="0" algn="ctr">
              <a:buNone/>
              <a:defRPr sz="2000"/>
            </a:lvl1pPr>
          </a:lstStyle>
          <a:p>
            <a:r>
              <a:rPr lang="en-US"/>
              <a:t>Click icon to add picture</a:t>
            </a:r>
            <a:endParaRPr lang="en-US" dirty="0"/>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anchor="t">
            <a:normAutofit/>
          </a:bodyPr>
          <a:lstStyle>
            <a:lvl1pPr marL="0" indent="0" algn="l">
              <a:lnSpc>
                <a:spcPct val="80000"/>
              </a:lnSpc>
              <a:spcBef>
                <a:spcPts val="0"/>
              </a:spcBef>
              <a:buNone/>
              <a:defRPr sz="2000" spc="0" baseline="0">
                <a:solidFill>
                  <a:schemeClr val="tx1"/>
                </a:solidFill>
                <a:latin typeface="+mn-lt"/>
              </a:defRPr>
            </a:lvl1pPr>
          </a:lstStyle>
          <a:p>
            <a:pPr lvl="0"/>
            <a:r>
              <a:rPr lang="en-US" dirty="0"/>
              <a:t>Click to add subtitle</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6"/>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anchor="b"/>
          <a:lstStyle>
            <a:lvl1pPr algn="ctr">
              <a:defRPr>
                <a:solidFill>
                  <a:schemeClr val="bg1"/>
                </a:solidFill>
              </a:defRPr>
            </a:lvl1pPr>
          </a:lstStyle>
          <a:p>
            <a:r>
              <a:rPr lang="en-US" dirty="0"/>
              <a:t>Click to add title</a:t>
            </a:r>
          </a:p>
        </p:txBody>
      </p:sp>
      <p:sp>
        <p:nvSpPr>
          <p:cNvPr id="5" name="Rectangle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anchor="t">
            <a:normAutofit/>
          </a:bodyPr>
          <a:lstStyle>
            <a:lvl1pPr marL="0" indent="0" algn="ctr">
              <a:lnSpc>
                <a:spcPct val="80000"/>
              </a:lnSpc>
              <a:spcBef>
                <a:spcPts val="0"/>
              </a:spcBef>
              <a:buNone/>
              <a:defRPr sz="2000" spc="0" baseline="0">
                <a:solidFill>
                  <a:schemeClr val="bg1"/>
                </a:solidFill>
                <a:latin typeface="+mn-lt"/>
              </a:defRPr>
            </a:lvl1pPr>
          </a:lstStyle>
          <a:p>
            <a:pPr lvl="0"/>
            <a:r>
              <a:rPr lang="en-US" dirty="0"/>
              <a:t>Click to add subtitle</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ntent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4" name="Content Placeholder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a:normAutofit/>
          </a:bodyPr>
          <a:lstStyle>
            <a:lvl1pPr marL="320040" indent="-320040">
              <a:lnSpc>
                <a:spcPct val="100000"/>
              </a:lnSpc>
              <a:spcBef>
                <a:spcPts val="0"/>
              </a:spcBef>
              <a:spcAft>
                <a:spcPts val="1200"/>
              </a:spcAft>
              <a:buFont typeface="+mj-lt"/>
              <a:buAutoNum type="arabicPeriod"/>
              <a:defRPr sz="2000"/>
            </a:lvl1pPr>
            <a:lvl2pPr marL="457200" indent="-320040">
              <a:lnSpc>
                <a:spcPct val="100000"/>
              </a:lnSpc>
              <a:spcBef>
                <a:spcPts val="1000"/>
              </a:spcBef>
              <a:spcAft>
                <a:spcPts val="1200"/>
              </a:spcAft>
              <a:buFont typeface="+mj-lt"/>
              <a:buAutoNum type="alphaLcPeriod"/>
              <a:defRPr sz="2000"/>
            </a:lvl2pPr>
            <a:lvl3pPr marL="914400" indent="-320040">
              <a:spcBef>
                <a:spcPts val="1000"/>
              </a:spcBef>
              <a:spcAft>
                <a:spcPts val="1200"/>
              </a:spcAft>
              <a:buFont typeface="+mj-lt"/>
              <a:buAutoNum type="arabicParenR"/>
              <a:defRPr sz="2000"/>
            </a:lvl3pPr>
            <a:lvl4pPr marL="1371600" indent="-320040">
              <a:spcBef>
                <a:spcPts val="1000"/>
              </a:spcBef>
              <a:spcAft>
                <a:spcPts val="1200"/>
              </a:spcAft>
              <a:buFont typeface="+mj-lt"/>
              <a:buAutoNum type="alphaLcParenR"/>
              <a:defRPr sz="2000"/>
            </a:lvl4pPr>
            <a:lvl5pPr marL="1828800" indent="-320040">
              <a:spcBef>
                <a:spcPts val="100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and Content">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Picture Placeholder 7">
            <a:extLst>
              <a:ext uri="{FF2B5EF4-FFF2-40B4-BE49-F238E27FC236}">
                <a16:creationId xmlns:a16="http://schemas.microsoft.com/office/drawing/2014/main" id="{357912CB-B8F8-1E65-094F-AD3220E6C79C}"/>
              </a:ext>
            </a:extLst>
          </p:cNvPr>
          <p:cNvSpPr>
            <a:spLocks noGrp="1"/>
          </p:cNvSpPr>
          <p:nvPr>
            <p:ph type="pic" sz="quarter" idx="12"/>
          </p:nvPr>
        </p:nvSpPr>
        <p:spPr>
          <a:xfrm>
            <a:off x="1503363" y="2061969"/>
            <a:ext cx="4592637" cy="4805362"/>
          </a:xfrm>
        </p:spPr>
        <p:txBody>
          <a:bodyPr>
            <a:normAutofit/>
          </a:bodyPr>
          <a:lstStyle>
            <a:lvl1pPr marL="0" indent="0" algn="ctr">
              <a:buNone/>
              <a:defRPr sz="2000"/>
            </a:lvl1pPr>
          </a:lstStyle>
          <a:p>
            <a:r>
              <a:rPr lang="en-US"/>
              <a:t>Click icon to add picture</a:t>
            </a:r>
            <a:endParaRPr lang="en-US" dirty="0"/>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a:normAutofit/>
          </a:bodyPr>
          <a:lstStyle>
            <a:lvl1pPr marL="0" indent="0">
              <a:lnSpc>
                <a:spcPct val="100000"/>
              </a:lnSpc>
              <a:spcBef>
                <a:spcPts val="1000"/>
              </a:spcBef>
              <a:spcAft>
                <a:spcPts val="1200"/>
              </a:spcAft>
              <a:buNone/>
              <a:defRPr sz="2000"/>
            </a:lvl1pPr>
            <a:lvl2pPr marL="800100" indent="-342900">
              <a:lnSpc>
                <a:spcPct val="100000"/>
              </a:lnSpc>
              <a:spcBef>
                <a:spcPts val="1000"/>
              </a:spcBef>
              <a:spcAft>
                <a:spcPts val="1200"/>
              </a:spcAft>
              <a:buFont typeface="Arial" panose="020B0604020202020204" pitchFamily="34" charset="0"/>
              <a:buChar char="•"/>
              <a:defRPr sz="2000"/>
            </a:lvl2pPr>
            <a:lvl3pPr marL="1257300" indent="-342900">
              <a:spcBef>
                <a:spcPts val="1000"/>
              </a:spcBef>
              <a:spcAft>
                <a:spcPts val="1200"/>
              </a:spcAft>
              <a:buFont typeface="Arial" panose="020B0604020202020204" pitchFamily="34" charset="0"/>
              <a:buChar char="•"/>
              <a:defRPr sz="2000"/>
            </a:lvl3pPr>
            <a:lvl4pPr marL="1714500" indent="-342900">
              <a:spcBef>
                <a:spcPts val="1000"/>
              </a:spcBef>
              <a:spcAft>
                <a:spcPts val="1200"/>
              </a:spcAft>
              <a:buFont typeface="Arial" panose="020B0604020202020204" pitchFamily="34" charset="0"/>
              <a:buChar char="•"/>
              <a:defRPr sz="2000"/>
            </a:lvl4pPr>
            <a:lvl5pPr marL="2171700" indent="-3429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a:normAutofit/>
          </a:bodyPr>
          <a:lstStyle>
            <a:lvl1pPr marL="0" indent="0">
              <a:lnSpc>
                <a:spcPct val="100000"/>
              </a:lnSpc>
              <a:spcBef>
                <a:spcPts val="0"/>
              </a:spcBef>
              <a:spcAft>
                <a:spcPts val="1200"/>
              </a:spcAft>
              <a:buNone/>
              <a:defRPr sz="2000"/>
            </a:lvl1pPr>
            <a:lvl2pPr marL="800100" indent="-342900">
              <a:lnSpc>
                <a:spcPct val="100000"/>
              </a:lnSpc>
              <a:spcBef>
                <a:spcPts val="0"/>
              </a:spcBef>
              <a:spcAft>
                <a:spcPts val="1200"/>
              </a:spcAft>
              <a:buFont typeface="Arial" panose="020B0604020202020204" pitchFamily="34" charset="0"/>
              <a:buChar char="•"/>
              <a:defRPr sz="2000"/>
            </a:lvl2pPr>
            <a:lvl3pPr marL="1257300" indent="-342900">
              <a:spcBef>
                <a:spcPts val="0"/>
              </a:spcBef>
              <a:spcAft>
                <a:spcPts val="1200"/>
              </a:spcAft>
              <a:buFont typeface="Arial" panose="020B0604020202020204" pitchFamily="34" charset="0"/>
              <a:buChar char="•"/>
              <a:defRPr sz="2000"/>
            </a:lvl3pPr>
            <a:lvl4pPr marL="1714500" indent="-342900">
              <a:spcBef>
                <a:spcPts val="0"/>
              </a:spcBef>
              <a:spcAft>
                <a:spcPts val="1200"/>
              </a:spcAft>
              <a:buFont typeface="Arial" panose="020B0604020202020204" pitchFamily="34" charset="0"/>
              <a:buChar char="•"/>
              <a:defRPr sz="2000"/>
            </a:lvl4pPr>
            <a:lvl5pPr marL="2171700" indent="-3429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able Placeholder 13">
            <a:extLst>
              <a:ext uri="{FF2B5EF4-FFF2-40B4-BE49-F238E27FC236}">
                <a16:creationId xmlns:a16="http://schemas.microsoft.com/office/drawing/2014/main" id="{EA708189-1532-1BDD-104F-4D8556146CEE}"/>
              </a:ext>
            </a:extLst>
          </p:cNvPr>
          <p:cNvSpPr>
            <a:spLocks noGrp="1"/>
          </p:cNvSpPr>
          <p:nvPr>
            <p:ph type="tbl" sz="quarter" idx="12"/>
          </p:nvPr>
        </p:nvSpPr>
        <p:spPr>
          <a:xfrm>
            <a:off x="5097463" y="2051976"/>
            <a:ext cx="6180137" cy="3867538"/>
          </a:xfrm>
        </p:spPr>
        <p:txBody>
          <a:bodyPr>
            <a:normAutofit/>
          </a:bodyPr>
          <a:lstStyle>
            <a:lvl1pPr>
              <a:defRPr sz="2000"/>
            </a:lvl1pPr>
          </a:lstStyle>
          <a:p>
            <a:r>
              <a:rPr lang="en-US"/>
              <a:t>Click icon to add table</a:t>
            </a:r>
            <a:endParaRPr lang="en-US"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ntent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Content Placeholder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a:normAutofit/>
          </a:bodyPr>
          <a:lstStyle>
            <a:lvl1pPr>
              <a:lnSpc>
                <a:spcPct val="100000"/>
              </a:lnSpc>
              <a:spcAft>
                <a:spcPts val="600"/>
              </a:spcAft>
              <a:defRPr sz="2000"/>
            </a:lvl1pPr>
            <a:lvl2pPr>
              <a:lnSpc>
                <a:spcPct val="100000"/>
              </a:lnSpc>
              <a:spcAft>
                <a:spcPts val="600"/>
              </a:spcAft>
              <a:defRPr sz="2000"/>
            </a:lvl2pPr>
            <a:lvl3pPr>
              <a:lnSpc>
                <a:spcPct val="100000"/>
              </a:lnSpc>
              <a:spcBef>
                <a:spcPts val="1000"/>
              </a:spcBef>
              <a:spcAft>
                <a:spcPts val="600"/>
              </a:spcAft>
              <a:defRPr sz="2000"/>
            </a:lvl3pPr>
            <a:lvl4pPr>
              <a:lnSpc>
                <a:spcPct val="100000"/>
              </a:lnSpc>
              <a:spcAft>
                <a:spcPts val="1200"/>
              </a:spcAft>
              <a:defRPr sz="20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a:normAutofit/>
          </a:bodyPr>
          <a:lstStyle>
            <a:lvl1pPr marL="0" indent="0">
              <a:lnSpc>
                <a:spcPct val="100000"/>
              </a:lnSpc>
              <a:spcAft>
                <a:spcPts val="600"/>
              </a:spcAft>
              <a:buNone/>
              <a:defRPr sz="2000"/>
            </a:lvl1pPr>
            <a:lvl2pPr marL="800100" indent="-342900">
              <a:lnSpc>
                <a:spcPct val="100000"/>
              </a:lnSpc>
              <a:spcAft>
                <a:spcPts val="600"/>
              </a:spcAft>
              <a:buFont typeface="Arial" panose="020B0604020202020204" pitchFamily="34" charset="0"/>
              <a:buChar char="•"/>
              <a:defRPr sz="2000"/>
            </a:lvl2pPr>
            <a:lvl3pPr marL="1257300" indent="-342900">
              <a:buFont typeface="Arial" panose="020B0604020202020204" pitchFamily="34" charset="0"/>
              <a:buChar char="•"/>
              <a:defRPr sz="2000"/>
            </a:lvl3pPr>
            <a:lvl4pPr marL="1714500" indent="-342900">
              <a:buFont typeface="Arial" panose="020B0604020202020204" pitchFamily="34" charset="0"/>
              <a:buChar char="•"/>
              <a:defRPr sz="2000"/>
            </a:lvl4pPr>
            <a:lvl5pPr marL="2171700" indent="-342900">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9" name="Table Placeholder 8">
            <a:extLst>
              <a:ext uri="{FF2B5EF4-FFF2-40B4-BE49-F238E27FC236}">
                <a16:creationId xmlns:a16="http://schemas.microsoft.com/office/drawing/2014/main" id="{CB43608F-0A38-CF4A-4B3B-F1212E786FDE}"/>
              </a:ext>
            </a:extLst>
          </p:cNvPr>
          <p:cNvSpPr>
            <a:spLocks noGrp="1"/>
          </p:cNvSpPr>
          <p:nvPr>
            <p:ph type="tbl" sz="quarter" idx="10"/>
          </p:nvPr>
        </p:nvSpPr>
        <p:spPr>
          <a:xfrm>
            <a:off x="1487488" y="2057400"/>
            <a:ext cx="9790112" cy="3886200"/>
          </a:xfrm>
        </p:spPr>
        <p:txBody>
          <a:bodyPr>
            <a:normAutofit/>
          </a:bodyPr>
          <a:lstStyle>
            <a:lvl1pPr>
              <a:defRPr sz="2400"/>
            </a:lvl1pPr>
          </a:lstStyle>
          <a:p>
            <a:r>
              <a:rPr lang="en-US"/>
              <a:t>Click icon to add table</a:t>
            </a:r>
            <a:endParaRPr lang="en-US" dirty="0"/>
          </a:p>
        </p:txBody>
      </p:sp>
      <p:sp>
        <p:nvSpPr>
          <p:cNvPr id="2" name="Slide Number Placeholder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anchor="b">
            <a:normAutofit/>
          </a:bodyPr>
          <a:lstStyle>
            <a:lvl1pPr>
              <a:defRPr sz="6000">
                <a:solidFill>
                  <a:schemeClr val="bg1"/>
                </a:solidFill>
              </a:defRPr>
            </a:lvl1pPr>
          </a:lstStyle>
          <a:p>
            <a:r>
              <a:rPr lang="en-US" dirty="0"/>
              <a:t>Click to add title</a:t>
            </a:r>
          </a:p>
        </p:txBody>
      </p:sp>
      <p:sp>
        <p:nvSpPr>
          <p:cNvPr id="10" name="Content Placeholder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anchor="ctr">
            <a:normAutofit/>
          </a:bodyPr>
          <a:lstStyle>
            <a:lvl1pPr marL="0" indent="0">
              <a:lnSpc>
                <a:spcPct val="100000"/>
              </a:lnSpc>
              <a:spcBef>
                <a:spcPts val="0"/>
              </a:spcBef>
              <a:spcAft>
                <a:spcPts val="1200"/>
              </a:spcAft>
              <a:buNone/>
              <a:defRPr sz="2000">
                <a:solidFill>
                  <a:schemeClr val="bg1"/>
                </a:solidFill>
              </a:defRPr>
            </a:lvl1pPr>
            <a:lvl2pPr marL="742950" indent="-285750">
              <a:lnSpc>
                <a:spcPct val="100000"/>
              </a:lnSpc>
              <a:spcBef>
                <a:spcPts val="0"/>
              </a:spcBef>
              <a:spcAft>
                <a:spcPts val="1200"/>
              </a:spcAft>
              <a:buFont typeface="Arial" panose="020B0604020202020204" pitchFamily="34" charset="0"/>
              <a:buChar char="•"/>
              <a:defRPr sz="1800">
                <a:solidFill>
                  <a:schemeClr val="bg1"/>
                </a:solidFill>
              </a:defRPr>
            </a:lvl2pPr>
            <a:lvl3pPr marL="1200150" indent="-285750">
              <a:lnSpc>
                <a:spcPct val="100000"/>
              </a:lnSpc>
              <a:spcBef>
                <a:spcPts val="0"/>
              </a:spcBef>
              <a:spcAft>
                <a:spcPts val="1200"/>
              </a:spcAft>
              <a:buFont typeface="Arial" panose="020B0604020202020204" pitchFamily="34" charset="0"/>
              <a:buChar char="•"/>
              <a:defRPr sz="1600">
                <a:solidFill>
                  <a:schemeClr val="bg1"/>
                </a:solidFill>
              </a:defRPr>
            </a:lvl3pPr>
            <a:lvl4pPr marL="1657350" indent="-285750">
              <a:lnSpc>
                <a:spcPct val="100000"/>
              </a:lnSpc>
              <a:spcBef>
                <a:spcPts val="0"/>
              </a:spcBef>
              <a:spcAft>
                <a:spcPts val="1200"/>
              </a:spcAft>
              <a:buFont typeface="Arial" panose="020B0604020202020204" pitchFamily="34" charset="0"/>
              <a:buChar char="•"/>
              <a:defRPr sz="1400">
                <a:solidFill>
                  <a:schemeClr val="bg1"/>
                </a:solidFill>
              </a:defRPr>
            </a:lvl4pPr>
            <a:lvl5pPr marL="2114550" indent="-285750">
              <a:lnSpc>
                <a:spcPct val="100000"/>
              </a:lnSpc>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437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5" name="Footer Placeholder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sz="1200" b="1" spc="150" baseline="0">
                <a:solidFill>
                  <a:schemeClr val="tx1"/>
                </a:solidFill>
                <a:latin typeface="+mn-lt"/>
              </a:defRPr>
            </a:lvl1p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54C9E-20FB-B999-9303-C71D1334BAD7}"/>
              </a:ext>
            </a:extLst>
          </p:cNvPr>
          <p:cNvSpPr>
            <a:spLocks noGrp="1"/>
          </p:cNvSpPr>
          <p:nvPr>
            <p:ph type="title"/>
          </p:nvPr>
        </p:nvSpPr>
        <p:spPr>
          <a:xfrm>
            <a:off x="1238956" y="802455"/>
            <a:ext cx="10441569" cy="5253089"/>
          </a:xfrm>
        </p:spPr>
        <p:txBody>
          <a:bodyPr>
            <a:normAutofit/>
          </a:bodyPr>
          <a:lstStyle/>
          <a:p>
            <a:r>
              <a:rPr lang="en-US" b="1" dirty="0"/>
              <a:t>Urban Tree Presence and Multifamily Residential Building Energy Use in New York City</a:t>
            </a:r>
          </a:p>
        </p:txBody>
      </p:sp>
      <p:sp>
        <p:nvSpPr>
          <p:cNvPr id="5" name="Title 1">
            <a:extLst>
              <a:ext uri="{FF2B5EF4-FFF2-40B4-BE49-F238E27FC236}">
                <a16:creationId xmlns:a16="http://schemas.microsoft.com/office/drawing/2014/main" id="{F7AFC4B1-3FC6-1A9C-C763-1974CEBDCEE3}"/>
              </a:ext>
            </a:extLst>
          </p:cNvPr>
          <p:cNvSpPr txBox="1">
            <a:spLocks/>
          </p:cNvSpPr>
          <p:nvPr/>
        </p:nvSpPr>
        <p:spPr>
          <a:xfrm>
            <a:off x="1238956" y="6055544"/>
            <a:ext cx="10318758" cy="5653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bg1"/>
                </a:solidFill>
                <a:latin typeface="+mj-lt"/>
                <a:ea typeface="+mj-ea"/>
                <a:cs typeface="+mj-cs"/>
              </a:defRPr>
            </a:lvl1pPr>
          </a:lstStyle>
          <a:p>
            <a:r>
              <a:rPr lang="en-US" sz="1800" b="1" dirty="0"/>
              <a:t>John Ferrara</a:t>
            </a:r>
          </a:p>
        </p:txBody>
      </p:sp>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97761-0B88-A5E8-0B78-C39173D05F4D}"/>
              </a:ext>
            </a:extLst>
          </p:cNvPr>
          <p:cNvSpPr>
            <a:spLocks noGrp="1"/>
          </p:cNvSpPr>
          <p:nvPr>
            <p:ph type="title"/>
          </p:nvPr>
        </p:nvSpPr>
        <p:spPr>
          <a:xfrm>
            <a:off x="1455583" y="737115"/>
            <a:ext cx="4640418" cy="5407091"/>
          </a:xfrm>
        </p:spPr>
        <p:txBody>
          <a:bodyPr/>
          <a:lstStyle/>
          <a:p>
            <a:r>
              <a:rPr lang="en-US" dirty="0"/>
              <a:t>Agenda</a:t>
            </a:r>
          </a:p>
        </p:txBody>
      </p:sp>
      <p:sp>
        <p:nvSpPr>
          <p:cNvPr id="3" name="Content Placeholder 2">
            <a:extLst>
              <a:ext uri="{FF2B5EF4-FFF2-40B4-BE49-F238E27FC236}">
                <a16:creationId xmlns:a16="http://schemas.microsoft.com/office/drawing/2014/main" id="{02BA04E6-CD61-B962-4287-DEC1993C32D6}"/>
              </a:ext>
            </a:extLst>
          </p:cNvPr>
          <p:cNvSpPr>
            <a:spLocks noGrp="1"/>
          </p:cNvSpPr>
          <p:nvPr>
            <p:ph sz="quarter" idx="12"/>
          </p:nvPr>
        </p:nvSpPr>
        <p:spPr>
          <a:xfrm>
            <a:off x="6388461" y="737115"/>
            <a:ext cx="4449712" cy="5407091"/>
          </a:xfrm>
        </p:spPr>
        <p:txBody>
          <a:bodyPr/>
          <a:lstStyle/>
          <a:p>
            <a:r>
              <a:rPr lang="en-US" dirty="0"/>
              <a:t>Introduction &amp; Motivation</a:t>
            </a:r>
          </a:p>
          <a:p>
            <a:r>
              <a:rPr lang="en-US" dirty="0"/>
              <a:t>Research Question &amp; Study Design</a:t>
            </a:r>
          </a:p>
          <a:p>
            <a:r>
              <a:rPr lang="en-US" dirty="0"/>
              <a:t>Data Sources &amp; Processing</a:t>
            </a:r>
          </a:p>
          <a:p>
            <a:r>
              <a:rPr lang="en-US" dirty="0"/>
              <a:t>Working Dataset</a:t>
            </a:r>
          </a:p>
          <a:p>
            <a:r>
              <a:rPr lang="en-US" dirty="0"/>
              <a:t>Modeling &amp; Analysis</a:t>
            </a:r>
          </a:p>
          <a:p>
            <a:r>
              <a:rPr lang="en-US" dirty="0"/>
              <a:t>Conclusions &amp; Future Work</a:t>
            </a:r>
          </a:p>
        </p:txBody>
      </p:sp>
      <p:sp>
        <p:nvSpPr>
          <p:cNvPr id="4" name="Slide Number Placeholder 3">
            <a:extLst>
              <a:ext uri="{FF2B5EF4-FFF2-40B4-BE49-F238E27FC236}">
                <a16:creationId xmlns:a16="http://schemas.microsoft.com/office/drawing/2014/main" id="{2CD4601E-33F5-5714-867D-A0B584DA7C11}"/>
              </a:ext>
            </a:extLst>
          </p:cNvPr>
          <p:cNvSpPr>
            <a:spLocks noGrp="1"/>
          </p:cNvSpPr>
          <p:nvPr>
            <p:ph type="sldNum" sz="quarter" idx="15"/>
          </p:nvPr>
        </p:nvSpPr>
        <p:spPr/>
        <p:txBody>
          <a:bodyPr/>
          <a:lstStyle/>
          <a:p>
            <a:fld id="{18D65601-5AE2-46FC-B138-694DDD2B510D}" type="slidenum">
              <a:rPr lang="en-US" smtClean="0"/>
              <a:pPr/>
              <a:t>2</a:t>
            </a:fld>
            <a:endParaRPr lang="en-US" dirty="0"/>
          </a:p>
        </p:txBody>
      </p:sp>
    </p:spTree>
    <p:extLst>
      <p:ext uri="{BB962C8B-B14F-4D97-AF65-F5344CB8AC3E}">
        <p14:creationId xmlns:p14="http://schemas.microsoft.com/office/powerpoint/2010/main" val="1607455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1545-ABEE-393A-910D-275F1B17577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513EAC0-59F6-5C41-9DB3-1871B9C6282E}"/>
              </a:ext>
            </a:extLst>
          </p:cNvPr>
          <p:cNvSpPr txBox="1">
            <a:spLocks/>
          </p:cNvSpPr>
          <p:nvPr/>
        </p:nvSpPr>
        <p:spPr>
          <a:xfrm>
            <a:off x="1038031" y="1068169"/>
            <a:ext cx="10115939" cy="2681549"/>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bg1"/>
                </a:solidFill>
                <a:latin typeface="+mj-lt"/>
                <a:ea typeface="+mj-ea"/>
                <a:cs typeface="+mj-cs"/>
              </a:defRPr>
            </a:lvl1pPr>
          </a:lstStyle>
          <a:p>
            <a:pPr algn="ctr"/>
            <a:r>
              <a:rPr lang="en-US" dirty="0"/>
              <a:t>Introduction</a:t>
            </a:r>
            <a:endParaRPr lang="en-ZA" dirty="0"/>
          </a:p>
        </p:txBody>
      </p:sp>
      <p:cxnSp>
        <p:nvCxnSpPr>
          <p:cNvPr id="11" name="Straight Connector 10">
            <a:extLst>
              <a:ext uri="{FF2B5EF4-FFF2-40B4-BE49-F238E27FC236}">
                <a16:creationId xmlns:a16="http://schemas.microsoft.com/office/drawing/2014/main" id="{5D5050F7-FD83-25BA-912A-E0B182C5DA42}"/>
              </a:ext>
            </a:extLst>
          </p:cNvPr>
          <p:cNvCxnSpPr>
            <a:cxnSpLocks/>
          </p:cNvCxnSpPr>
          <p:nvPr/>
        </p:nvCxnSpPr>
        <p:spPr>
          <a:xfrm flipH="1">
            <a:off x="0" y="894735"/>
            <a:ext cx="11277600" cy="0"/>
          </a:xfrm>
          <a:prstGeom prst="line">
            <a:avLst/>
          </a:prstGeom>
          <a:ln>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CF3C644-BF27-B566-5327-35EAE2155968}"/>
              </a:ext>
            </a:extLst>
          </p:cNvPr>
          <p:cNvCxnSpPr>
            <a:cxnSpLocks/>
          </p:cNvCxnSpPr>
          <p:nvPr/>
        </p:nvCxnSpPr>
        <p:spPr>
          <a:xfrm>
            <a:off x="11277600" y="894735"/>
            <a:ext cx="0" cy="5068530"/>
          </a:xfrm>
          <a:prstGeom prst="line">
            <a:avLst/>
          </a:prstGeom>
          <a:ln>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3DB65B6-8007-6036-B0FA-90EE7E5DF161}"/>
              </a:ext>
            </a:extLst>
          </p:cNvPr>
          <p:cNvCxnSpPr>
            <a:cxnSpLocks/>
          </p:cNvCxnSpPr>
          <p:nvPr/>
        </p:nvCxnSpPr>
        <p:spPr>
          <a:xfrm>
            <a:off x="914400" y="5963265"/>
            <a:ext cx="10363200" cy="0"/>
          </a:xfrm>
          <a:prstGeom prst="line">
            <a:avLst/>
          </a:prstGeom>
          <a:ln>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9887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EBC60-AA38-5DEF-3160-0CAA68F3D28C}"/>
              </a:ext>
            </a:extLst>
          </p:cNvPr>
          <p:cNvSpPr>
            <a:spLocks noGrp="1"/>
          </p:cNvSpPr>
          <p:nvPr>
            <p:ph type="title"/>
          </p:nvPr>
        </p:nvSpPr>
        <p:spPr>
          <a:xfrm>
            <a:off x="1468815" y="503852"/>
            <a:ext cx="9150675" cy="1427585"/>
          </a:xfrm>
        </p:spPr>
        <p:txBody>
          <a:bodyPr/>
          <a:lstStyle/>
          <a:p>
            <a:r>
              <a:rPr lang="en-ZA" dirty="0"/>
              <a:t>Introduction: The Motivation</a:t>
            </a:r>
          </a:p>
        </p:txBody>
      </p:sp>
      <p:sp>
        <p:nvSpPr>
          <p:cNvPr id="3" name="Content Placeholder 2">
            <a:extLst>
              <a:ext uri="{FF2B5EF4-FFF2-40B4-BE49-F238E27FC236}">
                <a16:creationId xmlns:a16="http://schemas.microsoft.com/office/drawing/2014/main" id="{1EBEE570-1B5E-FFD1-485D-D77E4E6FE7C0}"/>
              </a:ext>
            </a:extLst>
          </p:cNvPr>
          <p:cNvSpPr>
            <a:spLocks noGrp="1"/>
          </p:cNvSpPr>
          <p:nvPr>
            <p:ph sz="quarter" idx="12"/>
          </p:nvPr>
        </p:nvSpPr>
        <p:spPr>
          <a:xfrm>
            <a:off x="1450153" y="2108722"/>
            <a:ext cx="8552264" cy="4119463"/>
          </a:xfrm>
        </p:spPr>
        <p:txBody>
          <a:bodyPr>
            <a:normAutofit/>
          </a:bodyPr>
          <a:lstStyle/>
          <a:p>
            <a:r>
              <a:rPr lang="en-US" dirty="0"/>
              <a:t>Urban trees provide widely documented environmental benefits</a:t>
            </a:r>
            <a:br>
              <a:rPr lang="en-US" dirty="0"/>
            </a:br>
            <a:r>
              <a:rPr lang="en-US" dirty="0"/>
              <a:t>(cooling, air quality, stormwater mitigation)</a:t>
            </a:r>
          </a:p>
          <a:p>
            <a:r>
              <a:rPr lang="en-US" dirty="0"/>
              <a:t>Cities increasingly rely on trees as part of climate resilience strategies.</a:t>
            </a:r>
          </a:p>
          <a:p>
            <a:r>
              <a:rPr lang="en-US" dirty="0"/>
              <a:t>Buildings are the largest source of carbon emissions in New York City.</a:t>
            </a:r>
          </a:p>
          <a:p>
            <a:r>
              <a:rPr lang="en-US" dirty="0"/>
              <a:t>Reducing building energy use is a key policy priority, so understanding factors that influence building energy use is a major policy concern.</a:t>
            </a:r>
          </a:p>
          <a:p>
            <a:r>
              <a:rPr lang="en-US" dirty="0"/>
              <a:t>A natural question emerges: </a:t>
            </a:r>
          </a:p>
          <a:p>
            <a:pPr marL="457200" lvl="1" indent="0">
              <a:buNone/>
            </a:pPr>
            <a:r>
              <a:rPr lang="en-US" dirty="0"/>
              <a:t>Can urban trees measurably reduce building energy consumption?</a:t>
            </a:r>
          </a:p>
        </p:txBody>
      </p:sp>
      <p:sp>
        <p:nvSpPr>
          <p:cNvPr id="4" name="Slide Number Placeholder 3">
            <a:extLst>
              <a:ext uri="{FF2B5EF4-FFF2-40B4-BE49-F238E27FC236}">
                <a16:creationId xmlns:a16="http://schemas.microsoft.com/office/drawing/2014/main" id="{527C964F-E2D5-D8E7-C513-C47A7E409DF3}"/>
              </a:ext>
            </a:extLst>
          </p:cNvPr>
          <p:cNvSpPr>
            <a:spLocks noGrp="1"/>
          </p:cNvSpPr>
          <p:nvPr>
            <p:ph type="sldNum" sz="quarter" idx="15"/>
          </p:nvPr>
        </p:nvSpPr>
        <p:spPr/>
        <p:txBody>
          <a:bodyPr/>
          <a:lstStyle/>
          <a:p>
            <a:fld id="{18D65601-5AE2-46FC-B138-694DDD2B510D}" type="slidenum">
              <a:rPr lang="en-US" smtClean="0"/>
              <a:pPr/>
              <a:t>4</a:t>
            </a:fld>
            <a:endParaRPr lang="en-US" dirty="0"/>
          </a:p>
        </p:txBody>
      </p:sp>
    </p:spTree>
    <p:extLst>
      <p:ext uri="{BB962C8B-B14F-4D97-AF65-F5344CB8AC3E}">
        <p14:creationId xmlns:p14="http://schemas.microsoft.com/office/powerpoint/2010/main" val="2906152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CE95F-CC93-7EB6-CC32-15D5BE708D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B8F51C-5F3E-5B29-5E14-516503CA3D1A}"/>
              </a:ext>
            </a:extLst>
          </p:cNvPr>
          <p:cNvSpPr>
            <a:spLocks noGrp="1"/>
          </p:cNvSpPr>
          <p:nvPr>
            <p:ph type="title"/>
          </p:nvPr>
        </p:nvSpPr>
        <p:spPr>
          <a:xfrm>
            <a:off x="1468815" y="503852"/>
            <a:ext cx="9150675" cy="1427585"/>
          </a:xfrm>
        </p:spPr>
        <p:txBody>
          <a:bodyPr/>
          <a:lstStyle/>
          <a:p>
            <a:r>
              <a:rPr lang="en-ZA" dirty="0"/>
              <a:t>Introduction: Existing Tools &amp; Assumptions</a:t>
            </a:r>
          </a:p>
        </p:txBody>
      </p:sp>
      <p:sp>
        <p:nvSpPr>
          <p:cNvPr id="3" name="Content Placeholder 2">
            <a:extLst>
              <a:ext uri="{FF2B5EF4-FFF2-40B4-BE49-F238E27FC236}">
                <a16:creationId xmlns:a16="http://schemas.microsoft.com/office/drawing/2014/main" id="{A073BB29-43BC-8F3B-68E8-425074796EF5}"/>
              </a:ext>
            </a:extLst>
          </p:cNvPr>
          <p:cNvSpPr>
            <a:spLocks noGrp="1"/>
          </p:cNvSpPr>
          <p:nvPr>
            <p:ph sz="quarter" idx="12"/>
          </p:nvPr>
        </p:nvSpPr>
        <p:spPr>
          <a:xfrm>
            <a:off x="983227" y="1848465"/>
            <a:ext cx="4876800" cy="4379720"/>
          </a:xfrm>
        </p:spPr>
        <p:txBody>
          <a:bodyPr>
            <a:normAutofit/>
          </a:bodyPr>
          <a:lstStyle/>
          <a:p>
            <a:pPr lvl="1">
              <a:lnSpc>
                <a:spcPct val="90000"/>
              </a:lnSpc>
            </a:pPr>
            <a:r>
              <a:rPr lang="en-US" dirty="0"/>
              <a:t>NYC Tree Map estimates substantial ecological and energy benefits from trees,</a:t>
            </a:r>
          </a:p>
          <a:p>
            <a:pPr lvl="1">
              <a:lnSpc>
                <a:spcPct val="90000"/>
              </a:lnSpc>
            </a:pPr>
            <a:r>
              <a:rPr lang="en-US" dirty="0"/>
              <a:t>These estimates rely on USDA Forest Service </a:t>
            </a:r>
            <a:r>
              <a:rPr lang="en-US" dirty="0" err="1"/>
              <a:t>i</a:t>
            </a:r>
            <a:r>
              <a:rPr lang="en-US" dirty="0"/>
              <a:t>-Tree models.</a:t>
            </a:r>
          </a:p>
          <a:p>
            <a:pPr lvl="1">
              <a:lnSpc>
                <a:spcPct val="90000"/>
              </a:lnSpc>
            </a:pPr>
            <a:r>
              <a:rPr lang="en-US" dirty="0" err="1"/>
              <a:t>i</a:t>
            </a:r>
            <a:r>
              <a:rPr lang="en-US" dirty="0"/>
              <a:t>-Tree is widely used, but based on generalized equations</a:t>
            </a:r>
          </a:p>
          <a:p>
            <a:pPr lvl="1">
              <a:lnSpc>
                <a:spcPct val="90000"/>
              </a:lnSpc>
            </a:pPr>
            <a:r>
              <a:rPr lang="en-US" dirty="0"/>
              <a:t>Empirical validation using observed building energy data is limited.</a:t>
            </a:r>
          </a:p>
          <a:p>
            <a:pPr lvl="1">
              <a:lnSpc>
                <a:spcPct val="90000"/>
              </a:lnSpc>
            </a:pPr>
            <a:r>
              <a:rPr lang="en-US" dirty="0"/>
              <a:t>Especially in dense, multifamily urban environments</a:t>
            </a:r>
            <a:endParaRPr lang="en-US" altLang="en-US" dirty="0"/>
          </a:p>
        </p:txBody>
      </p:sp>
      <p:sp>
        <p:nvSpPr>
          <p:cNvPr id="4" name="Slide Number Placeholder 3">
            <a:extLst>
              <a:ext uri="{FF2B5EF4-FFF2-40B4-BE49-F238E27FC236}">
                <a16:creationId xmlns:a16="http://schemas.microsoft.com/office/drawing/2014/main" id="{C1F66136-A169-45E3-98D7-8E3CC6FF77A1}"/>
              </a:ext>
            </a:extLst>
          </p:cNvPr>
          <p:cNvSpPr>
            <a:spLocks noGrp="1"/>
          </p:cNvSpPr>
          <p:nvPr>
            <p:ph type="sldNum" sz="quarter" idx="15"/>
          </p:nvPr>
        </p:nvSpPr>
        <p:spPr/>
        <p:txBody>
          <a:bodyPr/>
          <a:lstStyle/>
          <a:p>
            <a:fld id="{18D65601-5AE2-46FC-B138-694DDD2B510D}" type="slidenum">
              <a:rPr lang="en-US" smtClean="0"/>
              <a:pPr/>
              <a:t>5</a:t>
            </a:fld>
            <a:endParaRPr lang="en-US" dirty="0"/>
          </a:p>
        </p:txBody>
      </p:sp>
      <p:pic>
        <p:nvPicPr>
          <p:cNvPr id="9" name="Picture 8" descr="A map of a city&#10;&#10;AI-generated content may be incorrect.">
            <a:extLst>
              <a:ext uri="{FF2B5EF4-FFF2-40B4-BE49-F238E27FC236}">
                <a16:creationId xmlns:a16="http://schemas.microsoft.com/office/drawing/2014/main" id="{AC745788-4C0D-9345-5487-8D5374C4226C}"/>
              </a:ext>
            </a:extLst>
          </p:cNvPr>
          <p:cNvPicPr>
            <a:picLocks noChangeAspect="1"/>
          </p:cNvPicPr>
          <p:nvPr/>
        </p:nvPicPr>
        <p:blipFill>
          <a:blip r:embed="rId2"/>
          <a:srcRect l="135" r="-1" b="-1"/>
          <a:stretch>
            <a:fillRect/>
          </a:stretch>
        </p:blipFill>
        <p:spPr>
          <a:xfrm>
            <a:off x="5929060" y="1518379"/>
            <a:ext cx="5602035" cy="5006591"/>
          </a:xfrm>
          <a:prstGeom prst="rect">
            <a:avLst/>
          </a:prstGeom>
          <a:noFill/>
        </p:spPr>
      </p:pic>
    </p:spTree>
    <p:extLst>
      <p:ext uri="{BB962C8B-B14F-4D97-AF65-F5344CB8AC3E}">
        <p14:creationId xmlns:p14="http://schemas.microsoft.com/office/powerpoint/2010/main" val="4028103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6794A-50AB-F19A-B38A-1650CAE77C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40B9A8-B9E3-994D-8D42-90CF46D13300}"/>
              </a:ext>
            </a:extLst>
          </p:cNvPr>
          <p:cNvSpPr>
            <a:spLocks noGrp="1"/>
          </p:cNvSpPr>
          <p:nvPr>
            <p:ph type="title"/>
          </p:nvPr>
        </p:nvSpPr>
        <p:spPr>
          <a:xfrm>
            <a:off x="1468815" y="415364"/>
            <a:ext cx="9150675" cy="1427585"/>
          </a:xfrm>
        </p:spPr>
        <p:txBody>
          <a:bodyPr/>
          <a:lstStyle/>
          <a:p>
            <a:r>
              <a:rPr lang="en-ZA" dirty="0"/>
              <a:t>Introduction: Other Research</a:t>
            </a:r>
          </a:p>
        </p:txBody>
      </p:sp>
      <p:sp>
        <p:nvSpPr>
          <p:cNvPr id="3" name="Content Placeholder 2">
            <a:extLst>
              <a:ext uri="{FF2B5EF4-FFF2-40B4-BE49-F238E27FC236}">
                <a16:creationId xmlns:a16="http://schemas.microsoft.com/office/drawing/2014/main" id="{DE87DE61-EB54-74F7-41D0-7630E6FFDB20}"/>
              </a:ext>
            </a:extLst>
          </p:cNvPr>
          <p:cNvSpPr>
            <a:spLocks noGrp="1"/>
          </p:cNvSpPr>
          <p:nvPr>
            <p:ph sz="quarter" idx="12"/>
          </p:nvPr>
        </p:nvSpPr>
        <p:spPr>
          <a:xfrm>
            <a:off x="1381120" y="1504337"/>
            <a:ext cx="10398744" cy="5260257"/>
          </a:xfrm>
        </p:spPr>
        <p:txBody>
          <a:bodyPr>
            <a:normAutofit fontScale="62500" lnSpcReduction="20000"/>
          </a:bodyPr>
          <a:lstStyle/>
          <a:p>
            <a:r>
              <a:rPr lang="en-US" dirty="0"/>
              <a:t>McPherson &amp; Rowntree (1993): </a:t>
            </a:r>
            <a:r>
              <a:rPr lang="en-US" i="1" dirty="0"/>
              <a:t>Energy Conservation Potential of Urban Tree Planting</a:t>
            </a:r>
          </a:p>
          <a:p>
            <a:pPr lvl="1"/>
            <a:r>
              <a:rPr lang="en-US" dirty="0"/>
              <a:t>Examined one and two-story single-family homes</a:t>
            </a:r>
          </a:p>
          <a:p>
            <a:pPr lvl="1"/>
            <a:r>
              <a:rPr lang="en-US" dirty="0"/>
              <a:t>Found cooling energy savings of approximately 10-15%; Peak demand reductions of 8-10%.</a:t>
            </a:r>
          </a:p>
          <a:p>
            <a:r>
              <a:rPr lang="en-US" dirty="0"/>
              <a:t>McPherson &amp; Simpson  (1999): </a:t>
            </a:r>
            <a:r>
              <a:rPr lang="en-US" i="1" dirty="0"/>
              <a:t>Carbon Dioxide Reduction Through Urban Forestry</a:t>
            </a:r>
          </a:p>
          <a:p>
            <a:pPr lvl="1"/>
            <a:r>
              <a:rPr lang="en-US" dirty="0"/>
              <a:t>Studied tree impacts on heating and cooling via shading and wind reduction for primarily low-rise, single-family structures.</a:t>
            </a:r>
          </a:p>
          <a:p>
            <a:pPr lvl="1"/>
            <a:r>
              <a:rPr lang="en-US" dirty="0"/>
              <a:t>Found 25-43% reductions in cooling demand in the presence of mature trees.</a:t>
            </a:r>
          </a:p>
          <a:p>
            <a:pPr lvl="1"/>
            <a:r>
              <a:rPr lang="en-US" dirty="0"/>
              <a:t>Results varied by building construction era.</a:t>
            </a:r>
          </a:p>
          <a:p>
            <a:r>
              <a:rPr lang="en-US" dirty="0"/>
              <a:t>He et al. (2021): </a:t>
            </a:r>
            <a:r>
              <a:rPr lang="en-US" i="1" dirty="0"/>
              <a:t>Cooling Effect of Urban Trees and Its Spatiotemporal Characteristics</a:t>
            </a:r>
          </a:p>
          <a:p>
            <a:pPr lvl="1"/>
            <a:r>
              <a:rPr lang="en-US" dirty="0"/>
              <a:t>Analyzed tree cover and land surface temperature in Boston and D.C.</a:t>
            </a:r>
          </a:p>
          <a:p>
            <a:pPr lvl="1"/>
            <a:r>
              <a:rPr lang="en-US" dirty="0"/>
              <a:t>Found non-linear cooling effects, strongest during extreme heat events.</a:t>
            </a:r>
          </a:p>
          <a:p>
            <a:pPr lvl="1"/>
            <a:r>
              <a:rPr lang="en-US" dirty="0"/>
              <a:t>Demonstrated that tree benefits increase with higher temperatures.</a:t>
            </a:r>
          </a:p>
          <a:p>
            <a:r>
              <a:rPr lang="en-US" dirty="0"/>
              <a:t>Zhu et al. (2022): </a:t>
            </a:r>
            <a:r>
              <a:rPr lang="en-US" i="1" dirty="0"/>
              <a:t>Impact of Urban Vegetation Morphology on Building Energy Consumption </a:t>
            </a:r>
          </a:p>
          <a:p>
            <a:pPr lvl="1"/>
            <a:r>
              <a:rPr lang="en-US" dirty="0"/>
              <a:t>Studied low-rise structures in </a:t>
            </a:r>
            <a:r>
              <a:rPr lang="en-US" dirty="0" err="1"/>
              <a:t>Nanjiing</a:t>
            </a:r>
            <a:r>
              <a:rPr lang="en-US" dirty="0"/>
              <a:t>, China. </a:t>
            </a:r>
          </a:p>
          <a:p>
            <a:pPr lvl="1"/>
            <a:r>
              <a:rPr lang="en-US" dirty="0"/>
              <a:t>Found vegetation reduces both cooling and heating needs, by depends on building proximity and type of vegetation.</a:t>
            </a:r>
          </a:p>
          <a:p>
            <a:r>
              <a:rPr lang="en-US" dirty="0" err="1"/>
              <a:t>Ravazdezh</a:t>
            </a:r>
            <a:r>
              <a:rPr lang="en-US" dirty="0"/>
              <a:t> &amp; Rivers (2025): </a:t>
            </a:r>
            <a:r>
              <a:rPr lang="en-US" i="1" dirty="0"/>
              <a:t>Quasi-experimental Evidence that the Urban Tree Canopy Reduces Residential Energy Consumption</a:t>
            </a:r>
          </a:p>
          <a:p>
            <a:pPr lvl="1"/>
            <a:r>
              <a:rPr lang="en-US" dirty="0"/>
              <a:t>Used difference-in-differences on ~2,000 single-family homes in Ottawa, Canada.</a:t>
            </a:r>
          </a:p>
          <a:p>
            <a:pPr lvl="1"/>
            <a:r>
              <a:rPr lang="en-US" dirty="0"/>
              <a:t>Found a 2.9% reduction in electricity use from a 10% canopy increase.</a:t>
            </a:r>
          </a:p>
        </p:txBody>
      </p:sp>
      <p:sp>
        <p:nvSpPr>
          <p:cNvPr id="4" name="Slide Number Placeholder 3">
            <a:extLst>
              <a:ext uri="{FF2B5EF4-FFF2-40B4-BE49-F238E27FC236}">
                <a16:creationId xmlns:a16="http://schemas.microsoft.com/office/drawing/2014/main" id="{0F831407-A0D3-43B2-EDC1-190F8FF7CF57}"/>
              </a:ext>
            </a:extLst>
          </p:cNvPr>
          <p:cNvSpPr>
            <a:spLocks noGrp="1"/>
          </p:cNvSpPr>
          <p:nvPr>
            <p:ph type="sldNum" sz="quarter" idx="15"/>
          </p:nvPr>
        </p:nvSpPr>
        <p:spPr/>
        <p:txBody>
          <a:bodyPr/>
          <a:lstStyle/>
          <a:p>
            <a:fld id="{18D65601-5AE2-46FC-B138-694DDD2B510D}" type="slidenum">
              <a:rPr lang="en-US" smtClean="0"/>
              <a:pPr/>
              <a:t>6</a:t>
            </a:fld>
            <a:endParaRPr lang="en-US" dirty="0"/>
          </a:p>
        </p:txBody>
      </p:sp>
    </p:spTree>
    <p:extLst>
      <p:ext uri="{BB962C8B-B14F-4D97-AF65-F5344CB8AC3E}">
        <p14:creationId xmlns:p14="http://schemas.microsoft.com/office/powerpoint/2010/main" val="162491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D6BF6-7CC3-D258-600C-E800EB32FE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BF45EC-0E71-1D8B-62E9-63D16A149466}"/>
              </a:ext>
            </a:extLst>
          </p:cNvPr>
          <p:cNvSpPr>
            <a:spLocks noGrp="1"/>
          </p:cNvSpPr>
          <p:nvPr>
            <p:ph type="title"/>
          </p:nvPr>
        </p:nvSpPr>
        <p:spPr>
          <a:xfrm>
            <a:off x="1468815" y="503852"/>
            <a:ext cx="9150675" cy="1427585"/>
          </a:xfrm>
        </p:spPr>
        <p:txBody>
          <a:bodyPr/>
          <a:lstStyle/>
          <a:p>
            <a:r>
              <a:rPr lang="en-ZA" dirty="0"/>
              <a:t>Research Question</a:t>
            </a:r>
          </a:p>
        </p:txBody>
      </p:sp>
      <p:sp>
        <p:nvSpPr>
          <p:cNvPr id="3" name="Content Placeholder 2">
            <a:extLst>
              <a:ext uri="{FF2B5EF4-FFF2-40B4-BE49-F238E27FC236}">
                <a16:creationId xmlns:a16="http://schemas.microsoft.com/office/drawing/2014/main" id="{B0D59D60-FB8E-9BCC-ED20-06CCE7FE53C6}"/>
              </a:ext>
            </a:extLst>
          </p:cNvPr>
          <p:cNvSpPr>
            <a:spLocks noGrp="1"/>
          </p:cNvSpPr>
          <p:nvPr>
            <p:ph sz="quarter" idx="12"/>
          </p:nvPr>
        </p:nvSpPr>
        <p:spPr>
          <a:xfrm>
            <a:off x="1450153" y="2108722"/>
            <a:ext cx="9788118" cy="4119463"/>
          </a:xfrm>
        </p:spPr>
        <p:txBody>
          <a:bodyPr>
            <a:normAutofit/>
          </a:bodyPr>
          <a:lstStyle/>
          <a:p>
            <a:r>
              <a:rPr lang="en-US" dirty="0"/>
              <a:t>Naturally, the question asked for this project was: </a:t>
            </a:r>
            <a:br>
              <a:rPr lang="en-US" dirty="0"/>
            </a:br>
            <a:endParaRPr lang="en-US" dirty="0"/>
          </a:p>
          <a:p>
            <a:pPr marL="0" indent="0" algn="ctr">
              <a:buNone/>
            </a:pPr>
            <a:r>
              <a:rPr lang="en-US" b="1" dirty="0"/>
              <a:t>Do changes in surrounding tree presence produce measurable changes in weather normalized energy use intensity for multifamily residential buildings in New York City between 2010 and 2017?</a:t>
            </a:r>
          </a:p>
          <a:p>
            <a:pPr marL="0" indent="0">
              <a:buNone/>
            </a:pPr>
            <a:endParaRPr lang="en-US" dirty="0"/>
          </a:p>
          <a:p>
            <a:r>
              <a:rPr lang="en-US" dirty="0"/>
              <a:t>Based on other studies, my hypothesis was: </a:t>
            </a:r>
            <a:br>
              <a:rPr lang="en-US" dirty="0"/>
            </a:br>
            <a:endParaRPr lang="en-US" dirty="0"/>
          </a:p>
          <a:p>
            <a:pPr marL="0" indent="0" algn="ctr">
              <a:buNone/>
            </a:pPr>
            <a:r>
              <a:rPr lang="en-US" b="1" dirty="0"/>
              <a:t>Greater tree presence, measured via canopy coverage and tree counts, is expected produce measurable changes in weather normalized EUI.</a:t>
            </a:r>
          </a:p>
        </p:txBody>
      </p:sp>
      <p:sp>
        <p:nvSpPr>
          <p:cNvPr id="4" name="Slide Number Placeholder 3">
            <a:extLst>
              <a:ext uri="{FF2B5EF4-FFF2-40B4-BE49-F238E27FC236}">
                <a16:creationId xmlns:a16="http://schemas.microsoft.com/office/drawing/2014/main" id="{F502EBC1-8576-BC08-0325-2F892AEF8A45}"/>
              </a:ext>
            </a:extLst>
          </p:cNvPr>
          <p:cNvSpPr>
            <a:spLocks noGrp="1"/>
          </p:cNvSpPr>
          <p:nvPr>
            <p:ph type="sldNum" sz="quarter" idx="15"/>
          </p:nvPr>
        </p:nvSpPr>
        <p:spPr/>
        <p:txBody>
          <a:bodyPr/>
          <a:lstStyle/>
          <a:p>
            <a:fld id="{18D65601-5AE2-46FC-B138-694DDD2B510D}" type="slidenum">
              <a:rPr lang="en-US" smtClean="0"/>
              <a:pPr/>
              <a:t>7</a:t>
            </a:fld>
            <a:endParaRPr lang="en-US" dirty="0"/>
          </a:p>
        </p:txBody>
      </p:sp>
    </p:spTree>
    <p:extLst>
      <p:ext uri="{BB962C8B-B14F-4D97-AF65-F5344CB8AC3E}">
        <p14:creationId xmlns:p14="http://schemas.microsoft.com/office/powerpoint/2010/main" val="1721182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F7116-5EE4-F915-3EF8-131AEA5EC9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BFF6D2-F986-13E5-94B7-04F6180C231E}"/>
              </a:ext>
            </a:extLst>
          </p:cNvPr>
          <p:cNvSpPr>
            <a:spLocks noGrp="1"/>
          </p:cNvSpPr>
          <p:nvPr>
            <p:ph type="title"/>
          </p:nvPr>
        </p:nvSpPr>
        <p:spPr>
          <a:xfrm>
            <a:off x="1468815" y="503852"/>
            <a:ext cx="9150675" cy="655587"/>
          </a:xfrm>
        </p:spPr>
        <p:txBody>
          <a:bodyPr/>
          <a:lstStyle/>
          <a:p>
            <a:r>
              <a:rPr lang="en-ZA" dirty="0"/>
              <a:t>Study Design</a:t>
            </a:r>
          </a:p>
        </p:txBody>
      </p:sp>
      <p:sp>
        <p:nvSpPr>
          <p:cNvPr id="4" name="Slide Number Placeholder 3">
            <a:extLst>
              <a:ext uri="{FF2B5EF4-FFF2-40B4-BE49-F238E27FC236}">
                <a16:creationId xmlns:a16="http://schemas.microsoft.com/office/drawing/2014/main" id="{C172DDE6-8B3C-9441-0525-282932B6BE57}"/>
              </a:ext>
            </a:extLst>
          </p:cNvPr>
          <p:cNvSpPr>
            <a:spLocks noGrp="1"/>
          </p:cNvSpPr>
          <p:nvPr>
            <p:ph type="sldNum" sz="quarter" idx="15"/>
          </p:nvPr>
        </p:nvSpPr>
        <p:spPr/>
        <p:txBody>
          <a:bodyPr/>
          <a:lstStyle/>
          <a:p>
            <a:fld id="{18D65601-5AE2-46FC-B138-694DDD2B510D}" type="slidenum">
              <a:rPr lang="en-US" smtClean="0"/>
              <a:pPr/>
              <a:t>8</a:t>
            </a:fld>
            <a:endParaRPr lang="en-US" dirty="0"/>
          </a:p>
        </p:txBody>
      </p:sp>
      <p:sp>
        <p:nvSpPr>
          <p:cNvPr id="6" name="Rectangle 2">
            <a:extLst>
              <a:ext uri="{FF2B5EF4-FFF2-40B4-BE49-F238E27FC236}">
                <a16:creationId xmlns:a16="http://schemas.microsoft.com/office/drawing/2014/main" id="{6DDC45DA-BA2F-038A-6E95-0C7F1CF6448C}"/>
              </a:ext>
            </a:extLst>
          </p:cNvPr>
          <p:cNvSpPr>
            <a:spLocks noGrp="1" noChangeArrowheads="1"/>
          </p:cNvSpPr>
          <p:nvPr>
            <p:ph sz="quarter" idx="12"/>
          </p:nvPr>
        </p:nvSpPr>
        <p:spPr bwMode="auto">
          <a:xfrm>
            <a:off x="1468815" y="1029895"/>
            <a:ext cx="10239481" cy="5453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ltLang="en-US" sz="1800" dirty="0"/>
          </a:p>
          <a:p>
            <a:r>
              <a:rPr lang="en-US" sz="1800" dirty="0"/>
              <a:t>The study compares changes in building energy use over time across buildings exposed to different canopy change conditions to test whether changes in nearby tree presence are associated with changes in energy use.</a:t>
            </a:r>
            <a:endParaRPr lang="en-US" altLang="en-US" sz="1800" dirty="0"/>
          </a:p>
          <a:p>
            <a:r>
              <a:rPr lang="en-US" altLang="en-US" sz="1800" dirty="0"/>
              <a:t>This requires: </a:t>
            </a:r>
          </a:p>
          <a:p>
            <a:pPr lvl="1"/>
            <a:r>
              <a:rPr lang="en-US" sz="1800" dirty="0"/>
              <a:t>Observing building energy use at two points in time.</a:t>
            </a:r>
          </a:p>
          <a:p>
            <a:pPr lvl="1"/>
            <a:r>
              <a:rPr lang="en-US" sz="1800" dirty="0"/>
              <a:t>Identifying where tree presence increased, decreased, or stayed the same</a:t>
            </a:r>
          </a:p>
          <a:p>
            <a:r>
              <a:rPr lang="en-US" altLang="en-US" sz="1800" dirty="0"/>
              <a:t>The key variables in this study:</a:t>
            </a:r>
          </a:p>
          <a:p>
            <a:pPr lvl="1"/>
            <a:r>
              <a:rPr lang="en-US" altLang="en-US" sz="1800" dirty="0"/>
              <a:t>Weather normalized Energy Usage Intensity (EUI).</a:t>
            </a:r>
          </a:p>
          <a:p>
            <a:pPr lvl="2"/>
            <a:r>
              <a:rPr lang="en-US" altLang="en-US" sz="1800" dirty="0"/>
              <a:t>How much energy building would use under normal weather conditions (Total Annual Energy Consumption ÷ Total Floor Area).</a:t>
            </a:r>
          </a:p>
          <a:p>
            <a:pPr lvl="1"/>
            <a:r>
              <a:rPr lang="en-US" altLang="en-US" sz="1800" dirty="0"/>
              <a:t>Tree Count within 50-foot proximity to buildings</a:t>
            </a:r>
          </a:p>
          <a:p>
            <a:pPr lvl="1"/>
            <a:r>
              <a:rPr lang="en-US" altLang="en-US" sz="1800" dirty="0"/>
              <a:t>Canopy Coverage Changes within 50-feet of buildings.</a:t>
            </a:r>
          </a:p>
          <a:p>
            <a:pPr lvl="1"/>
            <a:r>
              <a:rPr lang="en-US" altLang="en-US" sz="1800" dirty="0"/>
              <a:t>Other building characteristics (Number of Stories, Year built, etc.)</a:t>
            </a:r>
          </a:p>
        </p:txBody>
      </p:sp>
    </p:spTree>
    <p:extLst>
      <p:ext uri="{BB962C8B-B14F-4D97-AF65-F5344CB8AC3E}">
        <p14:creationId xmlns:p14="http://schemas.microsoft.com/office/powerpoint/2010/main" val="3354353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61384-8C2A-AC46-D296-2DF95CBF10BB}"/>
              </a:ext>
            </a:extLst>
          </p:cNvPr>
          <p:cNvSpPr>
            <a:spLocks noGrp="1"/>
          </p:cNvSpPr>
          <p:nvPr>
            <p:ph type="title"/>
          </p:nvPr>
        </p:nvSpPr>
        <p:spPr>
          <a:xfrm>
            <a:off x="1038031" y="1068169"/>
            <a:ext cx="10115939" cy="2681549"/>
          </a:xfrm>
        </p:spPr>
        <p:txBody>
          <a:bodyPr/>
          <a:lstStyle/>
          <a:p>
            <a:r>
              <a:rPr lang="en-US" dirty="0"/>
              <a:t>Data Sources &amp; Processing</a:t>
            </a:r>
            <a:endParaRPr lang="en-ZA" dirty="0"/>
          </a:p>
        </p:txBody>
      </p:sp>
    </p:spTree>
    <p:extLst>
      <p:ext uri="{BB962C8B-B14F-4D97-AF65-F5344CB8AC3E}">
        <p14:creationId xmlns:p14="http://schemas.microsoft.com/office/powerpoint/2010/main" val="4011334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6F71E8-8D71-9405-3A01-01C3B8F86877}"/>
              </a:ext>
            </a:extLst>
          </p:cNvPr>
          <p:cNvSpPr>
            <a:spLocks noGrp="1"/>
          </p:cNvSpPr>
          <p:nvPr>
            <p:ph type="title"/>
          </p:nvPr>
        </p:nvSpPr>
        <p:spPr>
          <a:xfrm>
            <a:off x="1468814" y="503852"/>
            <a:ext cx="9808773" cy="1427585"/>
          </a:xfrm>
        </p:spPr>
        <p:txBody>
          <a:bodyPr/>
          <a:lstStyle/>
          <a:p>
            <a:r>
              <a:rPr lang="en-ZA" dirty="0"/>
              <a:t>Data Sources: Custom Dataset Needed</a:t>
            </a:r>
          </a:p>
        </p:txBody>
      </p:sp>
      <p:sp>
        <p:nvSpPr>
          <p:cNvPr id="4" name="Content Placeholder 3">
            <a:extLst>
              <a:ext uri="{FF2B5EF4-FFF2-40B4-BE49-F238E27FC236}">
                <a16:creationId xmlns:a16="http://schemas.microsoft.com/office/drawing/2014/main" id="{392C90C5-5198-C255-02F9-1608AA49E088}"/>
              </a:ext>
            </a:extLst>
          </p:cNvPr>
          <p:cNvSpPr>
            <a:spLocks noGrp="1"/>
          </p:cNvSpPr>
          <p:nvPr>
            <p:ph sz="quarter" idx="12"/>
          </p:nvPr>
        </p:nvSpPr>
        <p:spPr>
          <a:xfrm>
            <a:off x="1468813" y="2566219"/>
            <a:ext cx="9248347" cy="3610645"/>
          </a:xfrm>
        </p:spPr>
        <p:txBody>
          <a:bodyPr/>
          <a:lstStyle/>
          <a:p>
            <a:pPr marL="342900" indent="-342900">
              <a:buFont typeface="Arial" panose="020B0604020202020204" pitchFamily="34" charset="0"/>
              <a:buChar char="•"/>
            </a:pPr>
            <a:r>
              <a:rPr lang="en-US" dirty="0"/>
              <a:t>No single dataset links trees to buildings in NYC</a:t>
            </a:r>
          </a:p>
          <a:p>
            <a:pPr marL="342900" indent="-342900">
              <a:buFont typeface="Arial" panose="020B0604020202020204" pitchFamily="34" charset="0"/>
              <a:buChar char="•"/>
            </a:pPr>
            <a:r>
              <a:rPr lang="en-US" dirty="0"/>
              <a:t>A custom longitudinal dataset was built.</a:t>
            </a:r>
          </a:p>
          <a:p>
            <a:pPr marL="342900" indent="-342900">
              <a:buFont typeface="Arial" panose="020B0604020202020204" pitchFamily="34" charset="0"/>
              <a:buChar char="•"/>
            </a:pPr>
            <a:r>
              <a:rPr lang="en-US" dirty="0"/>
              <a:t>Multiple data sources, mainly from NYC Open Data.</a:t>
            </a:r>
          </a:p>
          <a:p>
            <a:pPr marL="342900" indent="-342900">
              <a:buFont typeface="Arial" panose="020B0604020202020204" pitchFamily="34" charset="0"/>
              <a:buChar char="•"/>
            </a:pPr>
            <a:r>
              <a:rPr lang="en-US" dirty="0"/>
              <a:t>Three Part Pipeline Used</a:t>
            </a:r>
          </a:p>
          <a:p>
            <a:pPr marL="342900" indent="-342900">
              <a:buFont typeface="Arial" panose="020B0604020202020204" pitchFamily="34" charset="0"/>
              <a:buChar char="•"/>
            </a:pPr>
            <a:endParaRPr lang="en-US" dirty="0"/>
          </a:p>
        </p:txBody>
      </p:sp>
      <p:sp>
        <p:nvSpPr>
          <p:cNvPr id="5" name="Slide Number Placeholder 4">
            <a:extLst>
              <a:ext uri="{FF2B5EF4-FFF2-40B4-BE49-F238E27FC236}">
                <a16:creationId xmlns:a16="http://schemas.microsoft.com/office/drawing/2014/main" id="{A34518A5-1C9D-79F3-349C-3E7AAFD98951}"/>
              </a:ext>
            </a:extLst>
          </p:cNvPr>
          <p:cNvSpPr>
            <a:spLocks noGrp="1"/>
          </p:cNvSpPr>
          <p:nvPr>
            <p:ph type="sldNum" sz="quarter" idx="15"/>
          </p:nvPr>
        </p:nvSpPr>
        <p:spPr/>
        <p:txBody>
          <a:bodyPr/>
          <a:lstStyle/>
          <a:p>
            <a:fld id="{18D65601-5AE2-46FC-B138-694DDD2B510D}" type="slidenum">
              <a:rPr lang="en-US" smtClean="0"/>
              <a:pPr/>
              <a:t>10</a:t>
            </a:fld>
            <a:endParaRPr lang="en-US" dirty="0"/>
          </a:p>
        </p:txBody>
      </p:sp>
    </p:spTree>
    <p:extLst>
      <p:ext uri="{BB962C8B-B14F-4D97-AF65-F5344CB8AC3E}">
        <p14:creationId xmlns:p14="http://schemas.microsoft.com/office/powerpoint/2010/main" val="554382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EB94A-5E22-E99B-DDE6-C5AA1A3E23A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40D6CFC-749D-41CE-E8AF-F1B19A32B24E}"/>
              </a:ext>
            </a:extLst>
          </p:cNvPr>
          <p:cNvSpPr>
            <a:spLocks noGrp="1"/>
          </p:cNvSpPr>
          <p:nvPr>
            <p:ph type="title"/>
          </p:nvPr>
        </p:nvSpPr>
        <p:spPr>
          <a:xfrm>
            <a:off x="1468814" y="503852"/>
            <a:ext cx="9808773" cy="1427585"/>
          </a:xfrm>
        </p:spPr>
        <p:txBody>
          <a:bodyPr/>
          <a:lstStyle/>
          <a:p>
            <a:r>
              <a:rPr lang="en-ZA" dirty="0"/>
              <a:t>Data Sources: Core Sources</a:t>
            </a:r>
          </a:p>
        </p:txBody>
      </p:sp>
      <p:sp>
        <p:nvSpPr>
          <p:cNvPr id="4" name="Content Placeholder 3">
            <a:extLst>
              <a:ext uri="{FF2B5EF4-FFF2-40B4-BE49-F238E27FC236}">
                <a16:creationId xmlns:a16="http://schemas.microsoft.com/office/drawing/2014/main" id="{A530B6A8-8051-A55B-83C4-2F05FFDB1455}"/>
              </a:ext>
            </a:extLst>
          </p:cNvPr>
          <p:cNvSpPr>
            <a:spLocks noGrp="1"/>
          </p:cNvSpPr>
          <p:nvPr>
            <p:ph sz="quarter" idx="12"/>
          </p:nvPr>
        </p:nvSpPr>
        <p:spPr>
          <a:xfrm>
            <a:off x="1468813" y="1931437"/>
            <a:ext cx="9248347" cy="4245427"/>
          </a:xfrm>
        </p:spPr>
        <p:txBody>
          <a:bodyPr>
            <a:normAutofit/>
          </a:bodyPr>
          <a:lstStyle/>
          <a:p>
            <a:pPr marL="342900" indent="-342900">
              <a:buFont typeface="Arial" panose="020B0604020202020204" pitchFamily="34" charset="0"/>
              <a:buChar char="•"/>
            </a:pPr>
            <a:r>
              <a:rPr lang="en-US" dirty="0"/>
              <a:t>New York City Local Law 84 Energy Benchmarking data</a:t>
            </a:r>
          </a:p>
          <a:p>
            <a:pPr marL="342900" indent="-342900">
              <a:buFont typeface="Arial" panose="020B0604020202020204" pitchFamily="34" charset="0"/>
              <a:buChar char="•"/>
            </a:pPr>
            <a:r>
              <a:rPr lang="en-US" dirty="0"/>
              <a:t>LiDAR-based tree canopy coverage change (2010 through 2017) data</a:t>
            </a:r>
          </a:p>
          <a:p>
            <a:pPr marL="342900" indent="-342900">
              <a:buFont typeface="Arial" panose="020B0604020202020204" pitchFamily="34" charset="0"/>
              <a:buChar char="•"/>
            </a:pPr>
            <a:r>
              <a:rPr lang="en-US" dirty="0"/>
              <a:t>NYC Forestry tree point inventory data</a:t>
            </a:r>
          </a:p>
          <a:p>
            <a:pPr marL="342900" indent="-342900">
              <a:buFont typeface="Arial" panose="020B0604020202020204" pitchFamily="34" charset="0"/>
              <a:buChar char="•"/>
            </a:pPr>
            <a:r>
              <a:rPr lang="en-US" dirty="0"/>
              <a:t>NYC Forestry Work Order data</a:t>
            </a:r>
          </a:p>
          <a:p>
            <a:pPr marL="342900" indent="-342900">
              <a:buFont typeface="Arial" panose="020B0604020202020204" pitchFamily="34" charset="0"/>
              <a:buChar char="•"/>
            </a:pPr>
            <a:r>
              <a:rPr lang="en-US" dirty="0"/>
              <a:t>NYC Primary Land Use Tax Lot Output (PLUTO) data</a:t>
            </a:r>
          </a:p>
          <a:p>
            <a:pPr marL="342900" indent="-342900">
              <a:buFont typeface="Arial" panose="020B0604020202020204" pitchFamily="34" charset="0"/>
              <a:buChar char="•"/>
            </a:pPr>
            <a:r>
              <a:rPr lang="en-US" dirty="0"/>
              <a:t>NYC Building Footprint Outline data</a:t>
            </a:r>
          </a:p>
          <a:p>
            <a:pPr marL="342900" indent="-342900">
              <a:buFont typeface="Arial" panose="020B0604020202020204" pitchFamily="34" charset="0"/>
              <a:buChar char="•"/>
            </a:pPr>
            <a:r>
              <a:rPr lang="en-US" dirty="0"/>
              <a:t>Supplemental geocoding and census geography data</a:t>
            </a:r>
          </a:p>
        </p:txBody>
      </p:sp>
      <p:sp>
        <p:nvSpPr>
          <p:cNvPr id="5" name="Slide Number Placeholder 4">
            <a:extLst>
              <a:ext uri="{FF2B5EF4-FFF2-40B4-BE49-F238E27FC236}">
                <a16:creationId xmlns:a16="http://schemas.microsoft.com/office/drawing/2014/main" id="{17175BB1-EC56-6652-F7D6-3B388B450F48}"/>
              </a:ext>
            </a:extLst>
          </p:cNvPr>
          <p:cNvSpPr>
            <a:spLocks noGrp="1"/>
          </p:cNvSpPr>
          <p:nvPr>
            <p:ph type="sldNum" sz="quarter" idx="15"/>
          </p:nvPr>
        </p:nvSpPr>
        <p:spPr/>
        <p:txBody>
          <a:bodyPr/>
          <a:lstStyle/>
          <a:p>
            <a:fld id="{18D65601-5AE2-46FC-B138-694DDD2B510D}" type="slidenum">
              <a:rPr lang="en-US" smtClean="0"/>
              <a:pPr/>
              <a:t>11</a:t>
            </a:fld>
            <a:endParaRPr lang="en-US" dirty="0"/>
          </a:p>
        </p:txBody>
      </p:sp>
    </p:spTree>
    <p:extLst>
      <p:ext uri="{BB962C8B-B14F-4D97-AF65-F5344CB8AC3E}">
        <p14:creationId xmlns:p14="http://schemas.microsoft.com/office/powerpoint/2010/main" val="3592952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6CC30-B62E-F5C0-F0A5-8F67679E328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40CA314-C2D0-29E9-1000-88733D8E4127}"/>
              </a:ext>
            </a:extLst>
          </p:cNvPr>
          <p:cNvSpPr>
            <a:spLocks noGrp="1"/>
          </p:cNvSpPr>
          <p:nvPr>
            <p:ph type="title"/>
          </p:nvPr>
        </p:nvSpPr>
        <p:spPr>
          <a:xfrm>
            <a:off x="1468814" y="503852"/>
            <a:ext cx="9808773" cy="1427585"/>
          </a:xfrm>
        </p:spPr>
        <p:txBody>
          <a:bodyPr/>
          <a:lstStyle/>
          <a:p>
            <a:r>
              <a:rPr lang="en-ZA" dirty="0"/>
              <a:t>Data Processing: Part 1 (Buildings &amp; Energy)</a:t>
            </a:r>
          </a:p>
        </p:txBody>
      </p:sp>
      <p:sp>
        <p:nvSpPr>
          <p:cNvPr id="4" name="Content Placeholder 3">
            <a:extLst>
              <a:ext uri="{FF2B5EF4-FFF2-40B4-BE49-F238E27FC236}">
                <a16:creationId xmlns:a16="http://schemas.microsoft.com/office/drawing/2014/main" id="{D23F1FDF-C306-C837-7681-51D04B4C84E3}"/>
              </a:ext>
            </a:extLst>
          </p:cNvPr>
          <p:cNvSpPr>
            <a:spLocks noGrp="1"/>
          </p:cNvSpPr>
          <p:nvPr>
            <p:ph sz="quarter" idx="12"/>
          </p:nvPr>
        </p:nvSpPr>
        <p:spPr>
          <a:xfrm>
            <a:off x="1272988" y="1690071"/>
            <a:ext cx="10506876" cy="4905441"/>
          </a:xfrm>
        </p:spPr>
        <p:txBody>
          <a:bodyPr>
            <a:normAutofit fontScale="85000" lnSpcReduction="10000"/>
          </a:bodyPr>
          <a:lstStyle/>
          <a:p>
            <a:pPr marL="342900" indent="-342900">
              <a:buFont typeface="Arial" panose="020B0604020202020204" pitchFamily="34" charset="0"/>
              <a:buChar char="•"/>
            </a:pPr>
            <a:r>
              <a:rPr lang="en-US" dirty="0"/>
              <a:t>Ingested NYC Local Law 84 energy benchmarking data via API</a:t>
            </a:r>
          </a:p>
          <a:p>
            <a:pPr marL="342900" indent="-342900">
              <a:buFont typeface="Arial" panose="020B0604020202020204" pitchFamily="34" charset="0"/>
              <a:buChar char="•"/>
            </a:pPr>
            <a:r>
              <a:rPr lang="en-US" dirty="0"/>
              <a:t>Initially processed all available years (2010 through 2024), then limited to 2010 and 2017</a:t>
            </a:r>
          </a:p>
          <a:p>
            <a:pPr marL="342900" indent="-342900">
              <a:buFont typeface="Arial" panose="020B0604020202020204" pitchFamily="34" charset="0"/>
              <a:buChar char="•"/>
            </a:pPr>
            <a:r>
              <a:rPr lang="en-US" dirty="0"/>
              <a:t>Filtered dataset to residential properties only. Retained only those instances where energy metering measured the whole property. </a:t>
            </a:r>
          </a:p>
          <a:p>
            <a:pPr marL="342900" indent="-342900">
              <a:buFont typeface="Arial" panose="020B0604020202020204" pitchFamily="34" charset="0"/>
              <a:buChar char="•"/>
            </a:pPr>
            <a:r>
              <a:rPr lang="en-US" dirty="0"/>
              <a:t>Standardized column names and formats across years.</a:t>
            </a:r>
          </a:p>
          <a:p>
            <a:pPr marL="342900" indent="-342900">
              <a:buFont typeface="Arial" panose="020B0604020202020204" pitchFamily="34" charset="0"/>
              <a:buChar char="•"/>
            </a:pPr>
            <a:r>
              <a:rPr lang="en-US" dirty="0"/>
              <a:t>Enriched missing Borough Block Lot (BBL) identifiers using self-joins and NYC Planning Labs API.</a:t>
            </a:r>
          </a:p>
          <a:p>
            <a:pPr marL="342900" indent="-342900">
              <a:buFont typeface="Arial" panose="020B0604020202020204" pitchFamily="34" charset="0"/>
              <a:buChar char="•"/>
            </a:pPr>
            <a:r>
              <a:rPr lang="en-US" dirty="0"/>
              <a:t>Enriched data where Latitude and Longitude were missing with Google Maps API</a:t>
            </a:r>
          </a:p>
          <a:p>
            <a:pPr marL="342900" indent="-342900">
              <a:buFont typeface="Arial" panose="020B0604020202020204" pitchFamily="34" charset="0"/>
              <a:buChar char="•"/>
            </a:pPr>
            <a:r>
              <a:rPr lang="en-US" dirty="0"/>
              <a:t>Joined PLUTO data in via BBL for building characteristics (Year Built, Number of floors, Residential Units, Building height).</a:t>
            </a:r>
          </a:p>
          <a:p>
            <a:pPr marL="342900" indent="-342900">
              <a:buFont typeface="Arial" panose="020B0604020202020204" pitchFamily="34" charset="0"/>
              <a:buChar char="•"/>
            </a:pPr>
            <a:r>
              <a:rPr lang="en-US" dirty="0"/>
              <a:t>Added NYC building footprint geometries via BBL to enable spatial analysis.</a:t>
            </a:r>
          </a:p>
          <a:p>
            <a:pPr marL="342900" indent="-342900">
              <a:buFont typeface="Arial" panose="020B0604020202020204" pitchFamily="34" charset="0"/>
              <a:buChar char="•"/>
            </a:pPr>
            <a:r>
              <a:rPr lang="en-US" dirty="0"/>
              <a:t>Spatially joined LiDAR-based canopy changes for each building using a 50-foot buffer.</a:t>
            </a:r>
          </a:p>
        </p:txBody>
      </p:sp>
      <p:sp>
        <p:nvSpPr>
          <p:cNvPr id="5" name="Slide Number Placeholder 4">
            <a:extLst>
              <a:ext uri="{FF2B5EF4-FFF2-40B4-BE49-F238E27FC236}">
                <a16:creationId xmlns:a16="http://schemas.microsoft.com/office/drawing/2014/main" id="{E9E911D6-66FD-79CD-FFD0-4BF01BD7DC6B}"/>
              </a:ext>
            </a:extLst>
          </p:cNvPr>
          <p:cNvSpPr>
            <a:spLocks noGrp="1"/>
          </p:cNvSpPr>
          <p:nvPr>
            <p:ph type="sldNum" sz="quarter" idx="15"/>
          </p:nvPr>
        </p:nvSpPr>
        <p:spPr/>
        <p:txBody>
          <a:bodyPr/>
          <a:lstStyle/>
          <a:p>
            <a:fld id="{18D65601-5AE2-46FC-B138-694DDD2B510D}" type="slidenum">
              <a:rPr lang="en-US" smtClean="0"/>
              <a:pPr/>
              <a:t>12</a:t>
            </a:fld>
            <a:endParaRPr lang="en-US" dirty="0"/>
          </a:p>
        </p:txBody>
      </p:sp>
    </p:spTree>
    <p:extLst>
      <p:ext uri="{BB962C8B-B14F-4D97-AF65-F5344CB8AC3E}">
        <p14:creationId xmlns:p14="http://schemas.microsoft.com/office/powerpoint/2010/main" val="3095363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E7D0C-9BF5-BBDF-2404-302EF0A3ACA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C3EE43E-3238-D172-05C5-565078E8FCCC}"/>
              </a:ext>
            </a:extLst>
          </p:cNvPr>
          <p:cNvSpPr>
            <a:spLocks noGrp="1"/>
          </p:cNvSpPr>
          <p:nvPr>
            <p:ph type="title"/>
          </p:nvPr>
        </p:nvSpPr>
        <p:spPr>
          <a:xfrm>
            <a:off x="1468814" y="503853"/>
            <a:ext cx="9808773" cy="872664"/>
          </a:xfrm>
        </p:spPr>
        <p:txBody>
          <a:bodyPr/>
          <a:lstStyle/>
          <a:p>
            <a:r>
              <a:rPr lang="en-ZA" dirty="0"/>
              <a:t>Data Processing: Part 1 (Buildings &amp; Energy)</a:t>
            </a:r>
          </a:p>
        </p:txBody>
      </p:sp>
      <p:sp>
        <p:nvSpPr>
          <p:cNvPr id="5" name="Slide Number Placeholder 4">
            <a:extLst>
              <a:ext uri="{FF2B5EF4-FFF2-40B4-BE49-F238E27FC236}">
                <a16:creationId xmlns:a16="http://schemas.microsoft.com/office/drawing/2014/main" id="{343F88D1-7CB6-12EE-7AAE-446B0E8D378C}"/>
              </a:ext>
            </a:extLst>
          </p:cNvPr>
          <p:cNvSpPr>
            <a:spLocks noGrp="1"/>
          </p:cNvSpPr>
          <p:nvPr>
            <p:ph type="sldNum" sz="quarter" idx="15"/>
          </p:nvPr>
        </p:nvSpPr>
        <p:spPr/>
        <p:txBody>
          <a:bodyPr/>
          <a:lstStyle/>
          <a:p>
            <a:fld id="{18D65601-5AE2-46FC-B138-694DDD2B510D}" type="slidenum">
              <a:rPr lang="en-US" smtClean="0"/>
              <a:pPr/>
              <a:t>13</a:t>
            </a:fld>
            <a:endParaRPr lang="en-US" dirty="0"/>
          </a:p>
        </p:txBody>
      </p:sp>
      <p:graphicFrame>
        <p:nvGraphicFramePr>
          <p:cNvPr id="8" name="Table 7">
            <a:extLst>
              <a:ext uri="{FF2B5EF4-FFF2-40B4-BE49-F238E27FC236}">
                <a16:creationId xmlns:a16="http://schemas.microsoft.com/office/drawing/2014/main" id="{3933B6FA-E0B5-702E-59D9-6D43E3553F85}"/>
              </a:ext>
            </a:extLst>
          </p:cNvPr>
          <p:cNvGraphicFramePr>
            <a:graphicFrameLocks noGrp="1"/>
          </p:cNvGraphicFramePr>
          <p:nvPr>
            <p:extLst>
              <p:ext uri="{D42A27DB-BD31-4B8C-83A1-F6EECF244321}">
                <p14:modId xmlns:p14="http://schemas.microsoft.com/office/powerpoint/2010/main" val="3684085650"/>
              </p:ext>
            </p:extLst>
          </p:nvPr>
        </p:nvGraphicFramePr>
        <p:xfrm>
          <a:off x="1803961" y="1284128"/>
          <a:ext cx="9138477" cy="4971694"/>
        </p:xfrm>
        <a:graphic>
          <a:graphicData uri="http://schemas.openxmlformats.org/drawingml/2006/table">
            <a:tbl>
              <a:tblPr firstRow="1" firstCol="1" bandRow="1">
                <a:tableStyleId>{68D230F3-CF80-4859-8CE7-A43EE81993B5}</a:tableStyleId>
              </a:tblPr>
              <a:tblGrid>
                <a:gridCol w="2842903">
                  <a:extLst>
                    <a:ext uri="{9D8B030D-6E8A-4147-A177-3AD203B41FA5}">
                      <a16:colId xmlns:a16="http://schemas.microsoft.com/office/drawing/2014/main" val="1069020517"/>
                    </a:ext>
                  </a:extLst>
                </a:gridCol>
                <a:gridCol w="2562178">
                  <a:extLst>
                    <a:ext uri="{9D8B030D-6E8A-4147-A177-3AD203B41FA5}">
                      <a16:colId xmlns:a16="http://schemas.microsoft.com/office/drawing/2014/main" val="2829954460"/>
                    </a:ext>
                  </a:extLst>
                </a:gridCol>
                <a:gridCol w="3733396">
                  <a:extLst>
                    <a:ext uri="{9D8B030D-6E8A-4147-A177-3AD203B41FA5}">
                      <a16:colId xmlns:a16="http://schemas.microsoft.com/office/drawing/2014/main" val="813068317"/>
                    </a:ext>
                  </a:extLst>
                </a:gridCol>
              </a:tblGrid>
              <a:tr h="270958">
                <a:tc>
                  <a:txBody>
                    <a:bodyPr/>
                    <a:lstStyle/>
                    <a:p>
                      <a:pPr marL="0" marR="0" algn="ctr">
                        <a:lnSpc>
                          <a:spcPct val="115000"/>
                        </a:lnSpc>
                        <a:spcAft>
                          <a:spcPts val="800"/>
                        </a:spcAft>
                        <a:buNone/>
                      </a:pPr>
                      <a:r>
                        <a:rPr lang="en-US" sz="1400" kern="0">
                          <a:effectLst/>
                        </a:rPr>
                        <a:t>Original Column Name</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0">
                          <a:effectLst/>
                        </a:rPr>
                        <a:t>Example Value</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0">
                          <a:effectLst/>
                        </a:rPr>
                        <a:t>Column Description</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02835052"/>
                  </a:ext>
                </a:extLst>
              </a:tr>
              <a:tr h="270958">
                <a:tc>
                  <a:txBody>
                    <a:bodyPr/>
                    <a:lstStyle/>
                    <a:p>
                      <a:pPr marL="0" marR="0" algn="ctr">
                        <a:lnSpc>
                          <a:spcPct val="115000"/>
                        </a:lnSpc>
                        <a:spcAft>
                          <a:spcPts val="800"/>
                        </a:spcAft>
                        <a:buNone/>
                      </a:pPr>
                      <a:r>
                        <a:rPr lang="en-US" sz="1400" kern="0" dirty="0" err="1">
                          <a:effectLst/>
                        </a:rPr>
                        <a:t>year_ending_year</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0">
                          <a:effectLst/>
                        </a:rPr>
                        <a:t>2010</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0">
                          <a:effectLst/>
                        </a:rPr>
                        <a:t>Calendar/fiscal year of data</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2022853"/>
                  </a:ext>
                </a:extLst>
              </a:tr>
              <a:tr h="270958">
                <a:tc>
                  <a:txBody>
                    <a:bodyPr/>
                    <a:lstStyle/>
                    <a:p>
                      <a:pPr marL="0" marR="0" algn="ctr">
                        <a:lnSpc>
                          <a:spcPct val="115000"/>
                        </a:lnSpc>
                        <a:spcAft>
                          <a:spcPts val="800"/>
                        </a:spcAft>
                        <a:buNone/>
                      </a:pPr>
                      <a:r>
                        <a:rPr lang="en-US" sz="1400" kern="0">
                          <a:effectLst/>
                        </a:rPr>
                        <a:t>property_id</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0" dirty="0">
                          <a:effectLst/>
                        </a:rPr>
                        <a:t>2552023</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0">
                          <a:effectLst/>
                        </a:rPr>
                        <a:t>Internal property identifier</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01749605"/>
                  </a:ext>
                </a:extLst>
              </a:tr>
              <a:tr h="270958">
                <a:tc>
                  <a:txBody>
                    <a:bodyPr/>
                    <a:lstStyle/>
                    <a:p>
                      <a:pPr marL="0" marR="0" algn="ctr">
                        <a:lnSpc>
                          <a:spcPct val="115000"/>
                        </a:lnSpc>
                        <a:spcAft>
                          <a:spcPts val="800"/>
                        </a:spcAft>
                        <a:buNone/>
                      </a:pPr>
                      <a:r>
                        <a:rPr lang="en-US" sz="1400" kern="0">
                          <a:effectLst/>
                        </a:rPr>
                        <a:t>bbl</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0" dirty="0">
                          <a:effectLst/>
                        </a:rPr>
                        <a:t>1022020009</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0">
                          <a:effectLst/>
                        </a:rPr>
                        <a:t>Borough–Block–Lot ID</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16489959"/>
                  </a:ext>
                </a:extLst>
              </a:tr>
              <a:tr h="365408">
                <a:tc>
                  <a:txBody>
                    <a:bodyPr/>
                    <a:lstStyle/>
                    <a:p>
                      <a:pPr marL="0" marR="0" algn="ctr">
                        <a:lnSpc>
                          <a:spcPct val="115000"/>
                        </a:lnSpc>
                        <a:spcAft>
                          <a:spcPts val="800"/>
                        </a:spcAft>
                        <a:buNone/>
                      </a:pPr>
                      <a:r>
                        <a:rPr lang="en-US" sz="1400" kern="0" dirty="0">
                          <a:effectLst/>
                        </a:rPr>
                        <a:t>address_1</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0" dirty="0">
                          <a:effectLst/>
                        </a:rPr>
                        <a:t>420 West 206th Street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0">
                          <a:effectLst/>
                        </a:rPr>
                        <a:t>Primary street address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94237890"/>
                  </a:ext>
                </a:extLst>
              </a:tr>
              <a:tr h="270958">
                <a:tc>
                  <a:txBody>
                    <a:bodyPr/>
                    <a:lstStyle/>
                    <a:p>
                      <a:pPr marL="0" marR="0" algn="ctr">
                        <a:lnSpc>
                          <a:spcPct val="115000"/>
                        </a:lnSpc>
                        <a:spcAft>
                          <a:spcPts val="800"/>
                        </a:spcAft>
                        <a:buNone/>
                      </a:pPr>
                      <a:r>
                        <a:rPr lang="en-US" sz="1400" kern="0">
                          <a:effectLst/>
                        </a:rPr>
                        <a:t>city</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0" dirty="0">
                          <a:effectLst/>
                        </a:rPr>
                        <a:t>New York</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0">
                          <a:effectLst/>
                        </a:rPr>
                        <a:t>City name</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19762490"/>
                  </a:ext>
                </a:extLst>
              </a:tr>
              <a:tr h="270958">
                <a:tc>
                  <a:txBody>
                    <a:bodyPr/>
                    <a:lstStyle/>
                    <a:p>
                      <a:pPr marL="0" marR="0" algn="ctr">
                        <a:lnSpc>
                          <a:spcPct val="115000"/>
                        </a:lnSpc>
                        <a:spcAft>
                          <a:spcPts val="800"/>
                        </a:spcAft>
                        <a:buNone/>
                      </a:pPr>
                      <a:r>
                        <a:rPr lang="en-US" sz="1400" kern="0" dirty="0">
                          <a:effectLst/>
                        </a:rPr>
                        <a:t>gfa_building_ft2</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0">
                          <a:effectLst/>
                        </a:rPr>
                        <a:t>77967</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0">
                          <a:effectLst/>
                        </a:rPr>
                        <a:t>Gross floor area of building (ft²)</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16000621"/>
                  </a:ext>
                </a:extLst>
              </a:tr>
              <a:tr h="270958">
                <a:tc>
                  <a:txBody>
                    <a:bodyPr/>
                    <a:lstStyle/>
                    <a:p>
                      <a:pPr marL="0" marR="0" algn="ctr">
                        <a:lnSpc>
                          <a:spcPct val="115000"/>
                        </a:lnSpc>
                        <a:spcAft>
                          <a:spcPts val="800"/>
                        </a:spcAft>
                        <a:buNone/>
                      </a:pPr>
                      <a:r>
                        <a:rPr lang="en-US" sz="1400" kern="0" dirty="0" err="1">
                          <a:effectLst/>
                        </a:rPr>
                        <a:t>site_eui_kbtu_ft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0" dirty="0">
                          <a:effectLst/>
                        </a:rPr>
                        <a:t>101.2</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0" dirty="0">
                          <a:effectLst/>
                        </a:rPr>
                        <a:t>Site EUI (</a:t>
                      </a:r>
                      <a:r>
                        <a:rPr lang="en-US" sz="1400" kern="0" dirty="0" err="1">
                          <a:effectLst/>
                        </a:rPr>
                        <a:t>kBtu</a:t>
                      </a:r>
                      <a:r>
                        <a:rPr lang="en-US" sz="1400" kern="0" dirty="0">
                          <a:effectLst/>
                        </a:rPr>
                        <a:t>/ft²)</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15453224"/>
                  </a:ext>
                </a:extLst>
              </a:tr>
              <a:tr h="270958">
                <a:tc>
                  <a:txBody>
                    <a:bodyPr/>
                    <a:lstStyle/>
                    <a:p>
                      <a:pPr algn="ctr" fontAlgn="b">
                        <a:buNone/>
                      </a:pPr>
                      <a:r>
                        <a:rPr lang="en-US" sz="1400" b="1" i="0" u="none" strike="noStrike" dirty="0" err="1">
                          <a:solidFill>
                            <a:srgbClr val="000000"/>
                          </a:solidFill>
                          <a:effectLst/>
                          <a:latin typeface="+mn-lt"/>
                        </a:rPr>
                        <a:t>weather_normalized_site_eui</a:t>
                      </a:r>
                      <a:endParaRPr lang="en-US" sz="1400" b="1" i="0" u="none" strike="noStrike" dirty="0">
                        <a:solidFill>
                          <a:srgbClr val="000000"/>
                        </a:solidFill>
                        <a:effectLst/>
                        <a:latin typeface="+mn-lt"/>
                      </a:endParaRPr>
                    </a:p>
                  </a:txBody>
                  <a:tcPr marL="6350" marR="6350" marT="6350" marB="0" anchor="b"/>
                </a:tc>
                <a:tc>
                  <a:txBody>
                    <a:bodyPr/>
                    <a:lstStyle/>
                    <a:p>
                      <a:pPr marL="0" marR="0" algn="ctr">
                        <a:lnSpc>
                          <a:spcPct val="115000"/>
                        </a:lnSpc>
                        <a:spcAft>
                          <a:spcPts val="800"/>
                        </a:spcAft>
                        <a:buNone/>
                      </a:pPr>
                      <a:r>
                        <a:rPr lang="en-US" sz="1400" kern="100" dirty="0">
                          <a:effectLst/>
                          <a:latin typeface="+mn-lt"/>
                          <a:ea typeface="Aptos" panose="020B0004020202020204" pitchFamily="34" charset="0"/>
                          <a:cs typeface="Times New Roman" panose="02020603050405020304" pitchFamily="18" charset="0"/>
                        </a:rPr>
                        <a:t>99.5</a:t>
                      </a:r>
                    </a:p>
                  </a:txBody>
                  <a:tcPr marL="68580" marR="68580" marT="0" marB="0"/>
                </a:tc>
                <a:tc>
                  <a:txBody>
                    <a:bodyPr/>
                    <a:lstStyle/>
                    <a:p>
                      <a:pPr marL="0" marR="0">
                        <a:lnSpc>
                          <a:spcPct val="115000"/>
                        </a:lnSpc>
                        <a:spcAft>
                          <a:spcPts val="800"/>
                        </a:spcAft>
                        <a:buNone/>
                      </a:pPr>
                      <a:r>
                        <a:rPr lang="en-US" sz="1400" kern="100" dirty="0">
                          <a:effectLst/>
                          <a:latin typeface="+mn-lt"/>
                          <a:ea typeface="Aptos" panose="020B0004020202020204" pitchFamily="34" charset="0"/>
                          <a:cs typeface="Times New Roman" panose="02020603050405020304" pitchFamily="18" charset="0"/>
                        </a:rPr>
                        <a:t>Weather normalized site EUI.</a:t>
                      </a:r>
                    </a:p>
                  </a:txBody>
                  <a:tcPr marL="68580" marR="68580" marT="0" marB="0"/>
                </a:tc>
                <a:extLst>
                  <a:ext uri="{0D108BD9-81ED-4DB2-BD59-A6C34878D82A}">
                    <a16:rowId xmlns:a16="http://schemas.microsoft.com/office/drawing/2014/main" val="2416299067"/>
                  </a:ext>
                </a:extLst>
              </a:tr>
              <a:tr h="270958">
                <a:tc>
                  <a:txBody>
                    <a:bodyPr/>
                    <a:lstStyle/>
                    <a:p>
                      <a:pPr marL="0" marR="0" algn="ctr">
                        <a:lnSpc>
                          <a:spcPct val="115000"/>
                        </a:lnSpc>
                        <a:spcAft>
                          <a:spcPts val="800"/>
                        </a:spcAft>
                        <a:buNone/>
                      </a:pPr>
                      <a:r>
                        <a:rPr lang="en-US" sz="1400" kern="0" dirty="0" err="1">
                          <a:effectLst/>
                        </a:rPr>
                        <a:t>site_energy_use_kbtu</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0" dirty="0">
                          <a:effectLst/>
                        </a:rPr>
                        <a:t>7,892,541.1</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0" dirty="0">
                          <a:effectLst/>
                        </a:rPr>
                        <a:t>Total site energy use (</a:t>
                      </a:r>
                      <a:r>
                        <a:rPr lang="en-US" sz="1400" kern="0" dirty="0" err="1">
                          <a:effectLst/>
                        </a:rPr>
                        <a:t>kBtu</a:t>
                      </a:r>
                      <a:r>
                        <a:rPr lang="en-US" sz="1400" kern="0" dirty="0">
                          <a:effectLst/>
                        </a:rPr>
                        <a: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54024592"/>
                  </a:ext>
                </a:extLst>
              </a:tr>
              <a:tr h="270958">
                <a:tc>
                  <a:txBody>
                    <a:bodyPr/>
                    <a:lstStyle/>
                    <a:p>
                      <a:pPr marL="0" marR="0" algn="ctr">
                        <a:lnSpc>
                          <a:spcPct val="115000"/>
                        </a:lnSpc>
                        <a:spcAft>
                          <a:spcPts val="800"/>
                        </a:spcAft>
                        <a:buNone/>
                      </a:pPr>
                      <a:r>
                        <a:rPr lang="en-US" sz="1400" kern="0">
                          <a:effectLst/>
                        </a:rPr>
                        <a:t>source_energy_use_kbtu</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0">
                          <a:effectLst/>
                        </a:rPr>
                        <a:t>11,458,759.9</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0">
                          <a:effectLst/>
                        </a:rPr>
                        <a:t>Total source energy use (kBtu)</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96556384"/>
                  </a:ext>
                </a:extLst>
              </a:tr>
              <a:tr h="270958">
                <a:tc>
                  <a:txBody>
                    <a:bodyPr/>
                    <a:lstStyle/>
                    <a:p>
                      <a:pPr marL="0" marR="0" algn="ctr">
                        <a:lnSpc>
                          <a:spcPct val="115000"/>
                        </a:lnSpc>
                        <a:spcAft>
                          <a:spcPts val="800"/>
                        </a:spcAft>
                        <a:buNone/>
                      </a:pPr>
                      <a:r>
                        <a:rPr lang="en-US" sz="1400" kern="0">
                          <a:effectLst/>
                        </a:rPr>
                        <a:t>postcode</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0">
                          <a:effectLst/>
                        </a:rPr>
                        <a:t>10034</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0">
                          <a:effectLst/>
                        </a:rPr>
                        <a:t>ZIP code</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55674171"/>
                  </a:ext>
                </a:extLst>
              </a:tr>
              <a:tr h="270958">
                <a:tc>
                  <a:txBody>
                    <a:bodyPr/>
                    <a:lstStyle/>
                    <a:p>
                      <a:pPr marL="0" marR="0" algn="ctr">
                        <a:lnSpc>
                          <a:spcPct val="115000"/>
                        </a:lnSpc>
                        <a:spcAft>
                          <a:spcPts val="800"/>
                        </a:spcAft>
                        <a:buNone/>
                      </a:pPr>
                      <a:r>
                        <a:rPr lang="en-US" sz="1400" kern="0">
                          <a:effectLst/>
                        </a:rPr>
                        <a:t>Borough</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0">
                          <a:effectLst/>
                        </a:rPr>
                        <a:t>Manhattan</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0">
                          <a:effectLst/>
                        </a:rPr>
                        <a:t>NYC borough</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76929840"/>
                  </a:ext>
                </a:extLst>
              </a:tr>
              <a:tr h="270958">
                <a:tc>
                  <a:txBody>
                    <a:bodyPr/>
                    <a:lstStyle/>
                    <a:p>
                      <a:pPr marL="0" marR="0" algn="ctr">
                        <a:lnSpc>
                          <a:spcPct val="115000"/>
                        </a:lnSpc>
                        <a:spcAft>
                          <a:spcPts val="800"/>
                        </a:spcAft>
                        <a:buNone/>
                      </a:pPr>
                      <a:r>
                        <a:rPr lang="en-US" sz="1400" kern="0">
                          <a:effectLst/>
                        </a:rPr>
                        <a:t>BldgClass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0">
                          <a:effectLst/>
                        </a:rPr>
                        <a:t>D4</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0">
                          <a:effectLst/>
                        </a:rPr>
                        <a:t>Building class code</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36492165"/>
                  </a:ext>
                </a:extLst>
              </a:tr>
              <a:tr h="270958">
                <a:tc>
                  <a:txBody>
                    <a:bodyPr/>
                    <a:lstStyle/>
                    <a:p>
                      <a:pPr marL="0" marR="0" algn="ctr">
                        <a:lnSpc>
                          <a:spcPct val="115000"/>
                        </a:lnSpc>
                        <a:spcAft>
                          <a:spcPts val="800"/>
                        </a:spcAft>
                        <a:buNone/>
                      </a:pPr>
                      <a:r>
                        <a:rPr lang="en-US" sz="1400" kern="0">
                          <a:effectLst/>
                        </a:rPr>
                        <a:t>LandUse</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0">
                          <a:effectLst/>
                        </a:rPr>
                        <a:t>3</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0">
                          <a:effectLst/>
                        </a:rPr>
                        <a:t>Land use code</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78024312"/>
                  </a:ext>
                </a:extLst>
              </a:tr>
              <a:tr h="270958">
                <a:tc>
                  <a:txBody>
                    <a:bodyPr/>
                    <a:lstStyle/>
                    <a:p>
                      <a:pPr marL="0" marR="0" algn="ctr">
                        <a:lnSpc>
                          <a:spcPct val="115000"/>
                        </a:lnSpc>
                        <a:spcAft>
                          <a:spcPts val="800"/>
                        </a:spcAft>
                        <a:buNone/>
                      </a:pPr>
                      <a:r>
                        <a:rPr lang="en-US" sz="1400" kern="0">
                          <a:effectLst/>
                        </a:rPr>
                        <a:t>NumFloors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0">
                          <a:effectLst/>
                        </a:rPr>
                        <a:t>6</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0">
                          <a:effectLst/>
                        </a:rPr>
                        <a:t>Number of floors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06178085"/>
                  </a:ext>
                </a:extLst>
              </a:tr>
              <a:tr h="270958">
                <a:tc>
                  <a:txBody>
                    <a:bodyPr/>
                    <a:lstStyle/>
                    <a:p>
                      <a:pPr marL="0" marR="0" algn="ctr">
                        <a:lnSpc>
                          <a:spcPct val="115000"/>
                        </a:lnSpc>
                        <a:spcAft>
                          <a:spcPts val="800"/>
                        </a:spcAft>
                        <a:buNone/>
                      </a:pPr>
                      <a:r>
                        <a:rPr lang="en-US" sz="1400" kern="0">
                          <a:effectLst/>
                        </a:rPr>
                        <a:t>UnitsRes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0">
                          <a:effectLst/>
                        </a:rPr>
                        <a:t>74</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0">
                          <a:effectLst/>
                        </a:rPr>
                        <a:t>Number of residential units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00100329"/>
                  </a:ext>
                </a:extLst>
              </a:tr>
              <a:tr h="270958">
                <a:tc>
                  <a:txBody>
                    <a:bodyPr/>
                    <a:lstStyle/>
                    <a:p>
                      <a:pPr marL="0" marR="0" algn="ctr">
                        <a:lnSpc>
                          <a:spcPct val="115000"/>
                        </a:lnSpc>
                        <a:spcAft>
                          <a:spcPts val="800"/>
                        </a:spcAft>
                        <a:buNone/>
                      </a:pPr>
                      <a:r>
                        <a:rPr lang="en-US" sz="1400" kern="0">
                          <a:effectLst/>
                        </a:rPr>
                        <a:t>canopy_change_class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0">
                          <a:effectLst/>
                        </a:rPr>
                        <a:t>No Change</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0" dirty="0">
                          <a:effectLst/>
                        </a:rPr>
                        <a:t>Tree canopy change classification</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45094507"/>
                  </a:ext>
                </a:extLst>
              </a:tr>
            </a:tbl>
          </a:graphicData>
        </a:graphic>
      </p:graphicFrame>
    </p:spTree>
    <p:extLst>
      <p:ext uri="{BB962C8B-B14F-4D97-AF65-F5344CB8AC3E}">
        <p14:creationId xmlns:p14="http://schemas.microsoft.com/office/powerpoint/2010/main" val="2117380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B34B3-5F40-8EC9-FA73-722B5632D01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0D8D269-AEDB-EA13-D460-0816CBCCAE75}"/>
              </a:ext>
            </a:extLst>
          </p:cNvPr>
          <p:cNvSpPr>
            <a:spLocks noGrp="1"/>
          </p:cNvSpPr>
          <p:nvPr>
            <p:ph type="title"/>
          </p:nvPr>
        </p:nvSpPr>
        <p:spPr>
          <a:xfrm>
            <a:off x="1468814" y="503852"/>
            <a:ext cx="9808773" cy="1427585"/>
          </a:xfrm>
        </p:spPr>
        <p:txBody>
          <a:bodyPr/>
          <a:lstStyle/>
          <a:p>
            <a:r>
              <a:rPr lang="en-ZA" dirty="0"/>
              <a:t>Data Processing: Part 2 (Trees)</a:t>
            </a:r>
          </a:p>
        </p:txBody>
      </p:sp>
      <p:sp>
        <p:nvSpPr>
          <p:cNvPr id="4" name="Content Placeholder 3">
            <a:extLst>
              <a:ext uri="{FF2B5EF4-FFF2-40B4-BE49-F238E27FC236}">
                <a16:creationId xmlns:a16="http://schemas.microsoft.com/office/drawing/2014/main" id="{24F7AB3D-86DA-A2B3-1CA9-FFDC7958738F}"/>
              </a:ext>
            </a:extLst>
          </p:cNvPr>
          <p:cNvSpPr>
            <a:spLocks noGrp="1"/>
          </p:cNvSpPr>
          <p:nvPr>
            <p:ph sz="quarter" idx="12"/>
          </p:nvPr>
        </p:nvSpPr>
        <p:spPr>
          <a:xfrm>
            <a:off x="1468813" y="1931437"/>
            <a:ext cx="10182413" cy="4422711"/>
          </a:xfrm>
        </p:spPr>
        <p:txBody>
          <a:bodyPr>
            <a:normAutofit fontScale="92500" lnSpcReduction="10000"/>
          </a:bodyPr>
          <a:lstStyle/>
          <a:p>
            <a:pPr marL="342900" indent="-342900">
              <a:buFont typeface="Arial" panose="020B0604020202020204" pitchFamily="34" charset="0"/>
              <a:buChar char="•"/>
            </a:pPr>
            <a:r>
              <a:rPr lang="en-US" dirty="0"/>
              <a:t>Ingested NYC forestry tree point inventory and forestry work order datasets.</a:t>
            </a:r>
          </a:p>
          <a:p>
            <a:pPr marL="342900" indent="-342900">
              <a:buFont typeface="Arial" panose="020B0604020202020204" pitchFamily="34" charset="0"/>
              <a:buChar char="•"/>
            </a:pPr>
            <a:r>
              <a:rPr lang="en-US" dirty="0"/>
              <a:t>Used tree point data as baseline inventory of individual trees.</a:t>
            </a:r>
          </a:p>
          <a:p>
            <a:pPr marL="342900" indent="-342900">
              <a:buFont typeface="Arial" panose="020B0604020202020204" pitchFamily="34" charset="0"/>
              <a:buChar char="•"/>
            </a:pPr>
            <a:r>
              <a:rPr lang="en-US" dirty="0"/>
              <a:t>Filtered trees to those existing between 2010 and 2017.</a:t>
            </a:r>
          </a:p>
          <a:p>
            <a:pPr marL="342900" indent="-342900">
              <a:buFont typeface="Arial" panose="020B0604020202020204" pitchFamily="34" charset="0"/>
              <a:buChar char="•"/>
            </a:pPr>
            <a:r>
              <a:rPr lang="en-US" dirty="0"/>
              <a:t>Removed dead trees and stumps using condition and structure fields.</a:t>
            </a:r>
          </a:p>
          <a:p>
            <a:pPr marL="342900" indent="-342900">
              <a:buFont typeface="Arial" panose="020B0604020202020204" pitchFamily="34" charset="0"/>
              <a:buChar char="•"/>
            </a:pPr>
            <a:r>
              <a:rPr lang="en-US" dirty="0"/>
              <a:t>Used work orders to identify and timestamp tree removals.</a:t>
            </a:r>
          </a:p>
          <a:p>
            <a:pPr marL="342900" indent="-342900">
              <a:buFont typeface="Arial" panose="020B0604020202020204" pitchFamily="34" charset="0"/>
              <a:buChar char="•"/>
            </a:pPr>
            <a:r>
              <a:rPr lang="en-US" dirty="0"/>
              <a:t>Assumed trees persist unless explicitly removed.</a:t>
            </a:r>
          </a:p>
          <a:p>
            <a:pPr marL="342900" indent="-342900">
              <a:buFont typeface="Arial" panose="020B0604020202020204" pitchFamily="34" charset="0"/>
              <a:buChar char="•"/>
            </a:pPr>
            <a:r>
              <a:rPr lang="en-US" dirty="0"/>
              <a:t>Excluded new or young plantings (those after 2010) under the assumption that young trees have negligible energy impact.</a:t>
            </a:r>
          </a:p>
          <a:p>
            <a:pPr marL="342900" indent="-342900">
              <a:buFont typeface="Arial" panose="020B0604020202020204" pitchFamily="34" charset="0"/>
              <a:buChar char="•"/>
            </a:pPr>
            <a:r>
              <a:rPr lang="en-US" dirty="0"/>
              <a:t>Generated a longitudinal tree dataset representing estimated tree presence.</a:t>
            </a:r>
          </a:p>
        </p:txBody>
      </p:sp>
      <p:sp>
        <p:nvSpPr>
          <p:cNvPr id="5" name="Slide Number Placeholder 4">
            <a:extLst>
              <a:ext uri="{FF2B5EF4-FFF2-40B4-BE49-F238E27FC236}">
                <a16:creationId xmlns:a16="http://schemas.microsoft.com/office/drawing/2014/main" id="{3BA3BB46-1E0C-DF19-DED3-65E559C5B55A}"/>
              </a:ext>
            </a:extLst>
          </p:cNvPr>
          <p:cNvSpPr>
            <a:spLocks noGrp="1"/>
          </p:cNvSpPr>
          <p:nvPr>
            <p:ph type="sldNum" sz="quarter" idx="15"/>
          </p:nvPr>
        </p:nvSpPr>
        <p:spPr/>
        <p:txBody>
          <a:bodyPr/>
          <a:lstStyle/>
          <a:p>
            <a:fld id="{18D65601-5AE2-46FC-B138-694DDD2B510D}" type="slidenum">
              <a:rPr lang="en-US" smtClean="0"/>
              <a:pPr/>
              <a:t>14</a:t>
            </a:fld>
            <a:endParaRPr lang="en-US" dirty="0"/>
          </a:p>
        </p:txBody>
      </p:sp>
    </p:spTree>
    <p:extLst>
      <p:ext uri="{BB962C8B-B14F-4D97-AF65-F5344CB8AC3E}">
        <p14:creationId xmlns:p14="http://schemas.microsoft.com/office/powerpoint/2010/main" val="1099591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50180-3D7F-B328-C8DB-0694C19D726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AE3382D-3BE7-C033-CC7A-007CE6015903}"/>
              </a:ext>
            </a:extLst>
          </p:cNvPr>
          <p:cNvSpPr>
            <a:spLocks noGrp="1"/>
          </p:cNvSpPr>
          <p:nvPr>
            <p:ph type="title"/>
          </p:nvPr>
        </p:nvSpPr>
        <p:spPr>
          <a:xfrm>
            <a:off x="1468814" y="503852"/>
            <a:ext cx="9808773" cy="1427585"/>
          </a:xfrm>
        </p:spPr>
        <p:txBody>
          <a:bodyPr/>
          <a:lstStyle/>
          <a:p>
            <a:r>
              <a:rPr lang="en-ZA" dirty="0"/>
              <a:t>Data Processing: Part 2 (Trees)</a:t>
            </a:r>
          </a:p>
        </p:txBody>
      </p:sp>
      <p:sp>
        <p:nvSpPr>
          <p:cNvPr id="5" name="Slide Number Placeholder 4">
            <a:extLst>
              <a:ext uri="{FF2B5EF4-FFF2-40B4-BE49-F238E27FC236}">
                <a16:creationId xmlns:a16="http://schemas.microsoft.com/office/drawing/2014/main" id="{3E8E3738-D96C-F013-9478-C80D5ABA09E8}"/>
              </a:ext>
            </a:extLst>
          </p:cNvPr>
          <p:cNvSpPr>
            <a:spLocks noGrp="1"/>
          </p:cNvSpPr>
          <p:nvPr>
            <p:ph type="sldNum" sz="quarter" idx="15"/>
          </p:nvPr>
        </p:nvSpPr>
        <p:spPr/>
        <p:txBody>
          <a:bodyPr/>
          <a:lstStyle/>
          <a:p>
            <a:fld id="{18D65601-5AE2-46FC-B138-694DDD2B510D}" type="slidenum">
              <a:rPr lang="en-US" smtClean="0"/>
              <a:pPr/>
              <a:t>15</a:t>
            </a:fld>
            <a:endParaRPr lang="en-US" dirty="0"/>
          </a:p>
        </p:txBody>
      </p:sp>
      <p:graphicFrame>
        <p:nvGraphicFramePr>
          <p:cNvPr id="7" name="Table 6">
            <a:extLst>
              <a:ext uri="{FF2B5EF4-FFF2-40B4-BE49-F238E27FC236}">
                <a16:creationId xmlns:a16="http://schemas.microsoft.com/office/drawing/2014/main" id="{1DB17547-E3D8-E479-C929-0D7E7177B85F}"/>
              </a:ext>
            </a:extLst>
          </p:cNvPr>
          <p:cNvGraphicFramePr>
            <a:graphicFrameLocks noGrp="1"/>
          </p:cNvGraphicFramePr>
          <p:nvPr>
            <p:extLst>
              <p:ext uri="{D42A27DB-BD31-4B8C-83A1-F6EECF244321}">
                <p14:modId xmlns:p14="http://schemas.microsoft.com/office/powerpoint/2010/main" val="2903634852"/>
              </p:ext>
            </p:extLst>
          </p:nvPr>
        </p:nvGraphicFramePr>
        <p:xfrm>
          <a:off x="1252505" y="1575398"/>
          <a:ext cx="10241390" cy="5124929"/>
        </p:xfrm>
        <a:graphic>
          <a:graphicData uri="http://schemas.openxmlformats.org/drawingml/2006/table">
            <a:tbl>
              <a:tblPr firstRow="1" firstCol="1" bandRow="1">
                <a:tableStyleId>{68D230F3-CF80-4859-8CE7-A43EE81993B5}</a:tableStyleId>
              </a:tblPr>
              <a:tblGrid>
                <a:gridCol w="2108786">
                  <a:extLst>
                    <a:ext uri="{9D8B030D-6E8A-4147-A177-3AD203B41FA5}">
                      <a16:colId xmlns:a16="http://schemas.microsoft.com/office/drawing/2014/main" val="4015262039"/>
                    </a:ext>
                  </a:extLst>
                </a:gridCol>
                <a:gridCol w="4254603">
                  <a:extLst>
                    <a:ext uri="{9D8B030D-6E8A-4147-A177-3AD203B41FA5}">
                      <a16:colId xmlns:a16="http://schemas.microsoft.com/office/drawing/2014/main" val="1741479267"/>
                    </a:ext>
                  </a:extLst>
                </a:gridCol>
                <a:gridCol w="3878001">
                  <a:extLst>
                    <a:ext uri="{9D8B030D-6E8A-4147-A177-3AD203B41FA5}">
                      <a16:colId xmlns:a16="http://schemas.microsoft.com/office/drawing/2014/main" val="3306308228"/>
                    </a:ext>
                  </a:extLst>
                </a:gridCol>
              </a:tblGrid>
              <a:tr h="181819">
                <a:tc>
                  <a:txBody>
                    <a:bodyPr/>
                    <a:lstStyle/>
                    <a:p>
                      <a:pPr marL="0" marR="0" algn="ctr">
                        <a:lnSpc>
                          <a:spcPct val="115000"/>
                        </a:lnSpc>
                        <a:spcAft>
                          <a:spcPts val="800"/>
                        </a:spcAft>
                        <a:buNone/>
                      </a:pPr>
                      <a:r>
                        <a:rPr lang="en-US" sz="1200" kern="0" dirty="0">
                          <a:effectLst/>
                        </a:rPr>
                        <a:t>Original Column Name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0">
                          <a:effectLst/>
                        </a:rPr>
                        <a:t>Example Value</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0">
                          <a:effectLst/>
                        </a:rPr>
                        <a:t>Column Description</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51971990"/>
                  </a:ext>
                </a:extLst>
              </a:tr>
              <a:tr h="181819">
                <a:tc>
                  <a:txBody>
                    <a:bodyPr/>
                    <a:lstStyle/>
                    <a:p>
                      <a:pPr marL="0" marR="0" algn="ctr">
                        <a:lnSpc>
                          <a:spcPct val="115000"/>
                        </a:lnSpc>
                        <a:spcAft>
                          <a:spcPts val="800"/>
                        </a:spcAft>
                        <a:buNone/>
                      </a:pPr>
                      <a:r>
                        <a:rPr lang="en-US" sz="1200" kern="0" dirty="0" err="1">
                          <a:effectLst/>
                        </a:rPr>
                        <a:t>objectid</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0" dirty="0">
                          <a:effectLst/>
                        </a:rPr>
                        <a:t>230120</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0">
                          <a:effectLst/>
                        </a:rPr>
                        <a:t>Internal object / record ID</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33163505"/>
                  </a:ext>
                </a:extLst>
              </a:tr>
              <a:tr h="181819">
                <a:tc>
                  <a:txBody>
                    <a:bodyPr/>
                    <a:lstStyle/>
                    <a:p>
                      <a:pPr marL="0" marR="0" algn="ctr">
                        <a:lnSpc>
                          <a:spcPct val="115000"/>
                        </a:lnSpc>
                        <a:spcAft>
                          <a:spcPts val="800"/>
                        </a:spcAft>
                        <a:buNone/>
                      </a:pPr>
                      <a:r>
                        <a:rPr lang="en-US" sz="1200" kern="0" dirty="0" err="1">
                          <a:effectLst/>
                        </a:rPr>
                        <a:t>dbh</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0">
                          <a:effectLst/>
                        </a:rPr>
                        <a:t>18</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0">
                          <a:effectLst/>
                        </a:rPr>
                        <a:t>Diameter at breast height (inches)</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45740590"/>
                  </a:ext>
                </a:extLst>
              </a:tr>
              <a:tr h="374235">
                <a:tc>
                  <a:txBody>
                    <a:bodyPr/>
                    <a:lstStyle/>
                    <a:p>
                      <a:pPr marL="0" marR="0" algn="ctr">
                        <a:lnSpc>
                          <a:spcPct val="115000"/>
                        </a:lnSpc>
                        <a:spcAft>
                          <a:spcPts val="800"/>
                        </a:spcAft>
                        <a:buNone/>
                      </a:pPr>
                      <a:r>
                        <a:rPr lang="en-US" sz="1200" kern="0" dirty="0" err="1">
                          <a:effectLst/>
                        </a:rPr>
                        <a:t>tpstructure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0" dirty="0">
                          <a:effectLst/>
                        </a:rPr>
                        <a:t>Full</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0">
                          <a:effectLst/>
                        </a:rPr>
                        <a:t>Tree structure / crown fullness (e.g., Full, Retired)</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63318335"/>
                  </a:ext>
                </a:extLst>
              </a:tr>
              <a:tr h="181819">
                <a:tc>
                  <a:txBody>
                    <a:bodyPr/>
                    <a:lstStyle/>
                    <a:p>
                      <a:pPr marL="0" marR="0" algn="ctr">
                        <a:lnSpc>
                          <a:spcPct val="115000"/>
                        </a:lnSpc>
                        <a:spcAft>
                          <a:spcPts val="800"/>
                        </a:spcAft>
                        <a:buNone/>
                      </a:pPr>
                      <a:r>
                        <a:rPr lang="en-US" sz="1200" kern="0">
                          <a:effectLst/>
                        </a:rPr>
                        <a:t>tpcondition</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0">
                          <a:effectLst/>
                        </a:rPr>
                        <a:t>Good</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0">
                          <a:effectLst/>
                        </a:rPr>
                        <a:t>Tree condition (e.g., Good, Unknown)</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33895343"/>
                  </a:ext>
                </a:extLst>
              </a:tr>
              <a:tr h="181819">
                <a:tc>
                  <a:txBody>
                    <a:bodyPr/>
                    <a:lstStyle/>
                    <a:p>
                      <a:pPr marL="0" marR="0" algn="ctr">
                        <a:lnSpc>
                          <a:spcPct val="115000"/>
                        </a:lnSpc>
                        <a:spcAft>
                          <a:spcPts val="800"/>
                        </a:spcAft>
                        <a:buNone/>
                      </a:pPr>
                      <a:r>
                        <a:rPr lang="en-US" sz="1200" kern="0">
                          <a:effectLst/>
                        </a:rPr>
                        <a:t>plantingspaceglobalid</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0" dirty="0">
                          <a:effectLst/>
                        </a:rPr>
                        <a:t>B9DDFFE7-7387-4923-91EA-6E9212AA324F</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0">
                          <a:effectLst/>
                        </a:rPr>
                        <a:t>Unique ID for planting space</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59713441"/>
                  </a:ext>
                </a:extLst>
              </a:tr>
              <a:tr h="181819">
                <a:tc>
                  <a:txBody>
                    <a:bodyPr/>
                    <a:lstStyle/>
                    <a:p>
                      <a:pPr marL="0" marR="0" algn="ctr">
                        <a:lnSpc>
                          <a:spcPct val="115000"/>
                        </a:lnSpc>
                        <a:spcAft>
                          <a:spcPts val="800"/>
                        </a:spcAft>
                        <a:buNone/>
                      </a:pPr>
                      <a:r>
                        <a:rPr lang="en-US" sz="1200" kern="0">
                          <a:effectLst/>
                        </a:rPr>
                        <a:t>geometry</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0">
                          <a:effectLst/>
                        </a:rPr>
                        <a:t>POINT(-73.93851920790104 40.60738960999758)</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0">
                          <a:effectLst/>
                        </a:rPr>
                        <a:t>Geometry in WKT (Well-Known Text) format</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67395485"/>
                  </a:ext>
                </a:extLst>
              </a:tr>
              <a:tr h="181819">
                <a:tc>
                  <a:txBody>
                    <a:bodyPr/>
                    <a:lstStyle/>
                    <a:p>
                      <a:pPr marL="0" marR="0" algn="ctr">
                        <a:lnSpc>
                          <a:spcPct val="115000"/>
                        </a:lnSpc>
                        <a:spcAft>
                          <a:spcPts val="800"/>
                        </a:spcAft>
                        <a:buNone/>
                      </a:pPr>
                      <a:r>
                        <a:rPr lang="en-US" sz="1200" kern="0">
                          <a:effectLst/>
                        </a:rPr>
                        <a:t>globalid</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0" dirty="0">
                          <a:effectLst/>
                        </a:rPr>
                        <a:t>FF71F967-C0E7-478E-BD3A-C54A2927A624</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0">
                          <a:effectLst/>
                        </a:rPr>
                        <a:t>Unique ID for the tree record</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38144278"/>
                  </a:ext>
                </a:extLst>
              </a:tr>
              <a:tr h="181819">
                <a:tc>
                  <a:txBody>
                    <a:bodyPr/>
                    <a:lstStyle/>
                    <a:p>
                      <a:pPr marL="0" marR="0" algn="ctr">
                        <a:lnSpc>
                          <a:spcPct val="115000"/>
                        </a:lnSpc>
                        <a:spcAft>
                          <a:spcPts val="800"/>
                        </a:spcAft>
                        <a:buNone/>
                      </a:pPr>
                      <a:r>
                        <a:rPr lang="en-US" sz="1200" kern="0">
                          <a:effectLst/>
                        </a:rPr>
                        <a:t>genusspecies</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0">
                          <a:effectLst/>
                        </a:rPr>
                        <a:t>Acer - maple</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0">
                          <a:effectLst/>
                        </a:rPr>
                        <a:t>Botanical genus and common name</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83210230"/>
                  </a:ext>
                </a:extLst>
              </a:tr>
              <a:tr h="181819">
                <a:tc>
                  <a:txBody>
                    <a:bodyPr/>
                    <a:lstStyle/>
                    <a:p>
                      <a:pPr marL="0" marR="0" algn="ctr">
                        <a:lnSpc>
                          <a:spcPct val="115000"/>
                        </a:lnSpc>
                        <a:spcAft>
                          <a:spcPts val="800"/>
                        </a:spcAft>
                        <a:buNone/>
                      </a:pPr>
                      <a:r>
                        <a:rPr lang="en-US" sz="1200" kern="0">
                          <a:effectLst/>
                        </a:rPr>
                        <a:t>createddate</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0">
                          <a:effectLst/>
                        </a:rPr>
                        <a:t>9/4/2015 14:54</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0">
                          <a:effectLst/>
                        </a:rPr>
                        <a:t>Date/time record was created</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88377107"/>
                  </a:ext>
                </a:extLst>
              </a:tr>
              <a:tr h="181819">
                <a:tc>
                  <a:txBody>
                    <a:bodyPr/>
                    <a:lstStyle/>
                    <a:p>
                      <a:pPr marL="0" marR="0" algn="ctr">
                        <a:lnSpc>
                          <a:spcPct val="115000"/>
                        </a:lnSpc>
                        <a:spcAft>
                          <a:spcPts val="800"/>
                        </a:spcAft>
                        <a:buNone/>
                      </a:pPr>
                      <a:r>
                        <a:rPr lang="en-US" sz="1200" kern="0">
                          <a:effectLst/>
                        </a:rPr>
                        <a:t>location</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0" dirty="0">
                          <a:effectLst/>
                        </a:rPr>
                        <a:t>{'type': 'Point', 'coordinates': [-73.9385, 40.6074]}</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0">
                          <a:effectLst/>
                        </a:rPr>
                        <a:t>Geometry as GeoJSON</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43266272"/>
                  </a:ext>
                </a:extLst>
              </a:tr>
              <a:tr h="181819">
                <a:tc>
                  <a:txBody>
                    <a:bodyPr/>
                    <a:lstStyle/>
                    <a:p>
                      <a:pPr marL="0" marR="0" algn="ctr">
                        <a:lnSpc>
                          <a:spcPct val="115000"/>
                        </a:lnSpc>
                        <a:spcAft>
                          <a:spcPts val="800"/>
                        </a:spcAft>
                        <a:buNone/>
                      </a:pPr>
                      <a:r>
                        <a:rPr lang="en-US" sz="1200" kern="0">
                          <a:effectLst/>
                        </a:rPr>
                        <a:t>stumpdiameter</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0">
                          <a:effectLst/>
                        </a:rPr>
                        <a:t>0</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0">
                          <a:effectLst/>
                        </a:rPr>
                        <a:t>Stump diameter in inches (0 if not a stump)</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28487872"/>
                  </a:ext>
                </a:extLst>
              </a:tr>
              <a:tr h="181819">
                <a:tc>
                  <a:txBody>
                    <a:bodyPr/>
                    <a:lstStyle/>
                    <a:p>
                      <a:pPr marL="0" marR="0" algn="ctr">
                        <a:lnSpc>
                          <a:spcPct val="115000"/>
                        </a:lnSpc>
                        <a:spcAft>
                          <a:spcPts val="800"/>
                        </a:spcAft>
                        <a:buNone/>
                      </a:pPr>
                      <a:r>
                        <a:rPr lang="en-US" sz="1200" kern="0">
                          <a:effectLst/>
                        </a:rPr>
                        <a:t>updateddate</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0" dirty="0">
                          <a:effectLst/>
                        </a:rPr>
                        <a:t>(blank in sample)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0">
                          <a:effectLst/>
                        </a:rPr>
                        <a:t>Last updated timestamp (if available)</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65363230"/>
                  </a:ext>
                </a:extLst>
              </a:tr>
              <a:tr h="181819">
                <a:tc>
                  <a:txBody>
                    <a:bodyPr/>
                    <a:lstStyle/>
                    <a:p>
                      <a:pPr marL="0" marR="0" algn="ctr">
                        <a:lnSpc>
                          <a:spcPct val="115000"/>
                        </a:lnSpc>
                        <a:spcAft>
                          <a:spcPts val="800"/>
                        </a:spcAft>
                        <a:buNone/>
                      </a:pPr>
                      <a:r>
                        <a:rPr lang="en-US" sz="1200" kern="0">
                          <a:effectLst/>
                        </a:rPr>
                        <a:t>riskrating</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0" dirty="0">
                          <a:effectLst/>
                        </a:rPr>
                        <a:t>(blank / not set in sample)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0">
                          <a:effectLst/>
                        </a:rPr>
                        <a:t>Tree risk rating</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16730246"/>
                  </a:ext>
                </a:extLst>
              </a:tr>
              <a:tr h="181819">
                <a:tc>
                  <a:txBody>
                    <a:bodyPr/>
                    <a:lstStyle/>
                    <a:p>
                      <a:pPr marL="0" marR="0" algn="ctr">
                        <a:lnSpc>
                          <a:spcPct val="115000"/>
                        </a:lnSpc>
                        <a:spcAft>
                          <a:spcPts val="800"/>
                        </a:spcAft>
                        <a:buNone/>
                      </a:pPr>
                      <a:r>
                        <a:rPr lang="en-US" sz="1200" kern="0">
                          <a:effectLst/>
                        </a:rPr>
                        <a:t>riskratingdate</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100" dirty="0">
                          <a:effectLst/>
                          <a:latin typeface="+mn-lt"/>
                          <a:ea typeface="Aptos" panose="020B0004020202020204" pitchFamily="34" charset="0"/>
                          <a:cs typeface="Times New Roman" panose="02020603050405020304" pitchFamily="18" charset="0"/>
                        </a:rPr>
                        <a:t>Null</a:t>
                      </a:r>
                    </a:p>
                  </a:txBody>
                  <a:tcPr marL="68580" marR="68580" marT="0" marB="0"/>
                </a:tc>
                <a:tc>
                  <a:txBody>
                    <a:bodyPr/>
                    <a:lstStyle/>
                    <a:p>
                      <a:pPr marL="0" marR="0">
                        <a:lnSpc>
                          <a:spcPct val="115000"/>
                        </a:lnSpc>
                        <a:spcAft>
                          <a:spcPts val="800"/>
                        </a:spcAft>
                        <a:buNone/>
                      </a:pPr>
                      <a:r>
                        <a:rPr lang="en-US" sz="1200" kern="0">
                          <a:effectLst/>
                        </a:rPr>
                        <a:t>Date risk rating was assigned</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57472904"/>
                  </a:ext>
                </a:extLst>
              </a:tr>
              <a:tr h="181819">
                <a:tc>
                  <a:txBody>
                    <a:bodyPr/>
                    <a:lstStyle/>
                    <a:p>
                      <a:pPr marL="0" marR="0" algn="ctr">
                        <a:lnSpc>
                          <a:spcPct val="115000"/>
                        </a:lnSpc>
                        <a:spcAft>
                          <a:spcPts val="800"/>
                        </a:spcAft>
                        <a:buNone/>
                      </a:pPr>
                      <a:r>
                        <a:rPr lang="en-US" sz="1200" kern="0">
                          <a:effectLst/>
                        </a:rPr>
                        <a:t>planteddate</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100" dirty="0">
                          <a:effectLst/>
                          <a:latin typeface="+mn-lt"/>
                          <a:ea typeface="Aptos" panose="020B0004020202020204" pitchFamily="34" charset="0"/>
                          <a:cs typeface="Times New Roman" panose="02020603050405020304" pitchFamily="18" charset="0"/>
                        </a:rPr>
                        <a:t>Null</a:t>
                      </a:r>
                    </a:p>
                  </a:txBody>
                  <a:tcPr marL="68580" marR="68580" marT="0" marB="0"/>
                </a:tc>
                <a:tc>
                  <a:txBody>
                    <a:bodyPr/>
                    <a:lstStyle/>
                    <a:p>
                      <a:pPr marL="0" marR="0">
                        <a:lnSpc>
                          <a:spcPct val="115000"/>
                        </a:lnSpc>
                        <a:spcAft>
                          <a:spcPts val="800"/>
                        </a:spcAft>
                        <a:buNone/>
                      </a:pPr>
                      <a:r>
                        <a:rPr lang="en-US" sz="1200" kern="0" dirty="0">
                          <a:effectLst/>
                        </a:rPr>
                        <a:t>Date the tree was planted</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03484095"/>
                  </a:ext>
                </a:extLst>
              </a:tr>
              <a:tr h="181819">
                <a:tc>
                  <a:txBody>
                    <a:bodyPr/>
                    <a:lstStyle/>
                    <a:p>
                      <a:pPr marL="0" marR="0" algn="ctr">
                        <a:lnSpc>
                          <a:spcPct val="115000"/>
                        </a:lnSpc>
                        <a:spcAft>
                          <a:spcPts val="800"/>
                        </a:spcAft>
                        <a:buNone/>
                      </a:pPr>
                      <a:r>
                        <a:rPr lang="en-US" sz="1200" kern="0">
                          <a:effectLst/>
                        </a:rPr>
                        <a:t>lat</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0">
                          <a:effectLst/>
                        </a:rPr>
                        <a:t>40.60738961</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0">
                          <a:effectLst/>
                        </a:rPr>
                        <a:t>Latitude (decimal degrees)</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03360248"/>
                  </a:ext>
                </a:extLst>
              </a:tr>
              <a:tr h="181819">
                <a:tc>
                  <a:txBody>
                    <a:bodyPr/>
                    <a:lstStyle/>
                    <a:p>
                      <a:pPr marL="0" marR="0" algn="ctr">
                        <a:lnSpc>
                          <a:spcPct val="115000"/>
                        </a:lnSpc>
                        <a:spcAft>
                          <a:spcPts val="800"/>
                        </a:spcAft>
                        <a:buNone/>
                      </a:pPr>
                      <a:r>
                        <a:rPr lang="en-US" sz="1200" kern="0">
                          <a:effectLst/>
                        </a:rPr>
                        <a:t>lon</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0">
                          <a:effectLst/>
                        </a:rPr>
                        <a:t>-73.93851921</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0" dirty="0">
                          <a:effectLst/>
                        </a:rPr>
                        <a:t>Longitude (decimal degrees)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72987476"/>
                  </a:ext>
                </a:extLst>
              </a:tr>
              <a:tr h="181819">
                <a:tc>
                  <a:txBody>
                    <a:bodyPr/>
                    <a:lstStyle/>
                    <a:p>
                      <a:pPr marL="0" marR="0" algn="ctr">
                        <a:lnSpc>
                          <a:spcPct val="115000"/>
                        </a:lnSpc>
                        <a:spcAft>
                          <a:spcPts val="800"/>
                        </a:spcAft>
                        <a:buNone/>
                      </a:pPr>
                      <a:r>
                        <a:rPr lang="en-US" sz="1200" kern="0">
                          <a:effectLst/>
                        </a:rPr>
                        <a:t>removal_date_est</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100" dirty="0">
                          <a:effectLst/>
                          <a:latin typeface="+mn-lt"/>
                          <a:ea typeface="Aptos" panose="020B0004020202020204" pitchFamily="34" charset="0"/>
                          <a:cs typeface="Times New Roman" panose="02020603050405020304" pitchFamily="18" charset="0"/>
                        </a:rPr>
                        <a:t>Null</a:t>
                      </a:r>
                    </a:p>
                  </a:txBody>
                  <a:tcPr marL="68580" marR="68580" marT="0" marB="0"/>
                </a:tc>
                <a:tc>
                  <a:txBody>
                    <a:bodyPr/>
                    <a:lstStyle/>
                    <a:p>
                      <a:pPr marL="0" marR="0">
                        <a:lnSpc>
                          <a:spcPct val="115000"/>
                        </a:lnSpc>
                        <a:spcAft>
                          <a:spcPts val="800"/>
                        </a:spcAft>
                        <a:buNone/>
                      </a:pPr>
                      <a:r>
                        <a:rPr lang="en-US" sz="1200" kern="0">
                          <a:effectLst/>
                        </a:rPr>
                        <a:t>Estimated removal date</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09979331"/>
                  </a:ext>
                </a:extLst>
              </a:tr>
              <a:tr h="181819">
                <a:tc>
                  <a:txBody>
                    <a:bodyPr/>
                    <a:lstStyle/>
                    <a:p>
                      <a:pPr marL="0" marR="0" algn="ctr">
                        <a:lnSpc>
                          <a:spcPct val="115000"/>
                        </a:lnSpc>
                        <a:spcAft>
                          <a:spcPts val="800"/>
                        </a:spcAft>
                        <a:buNone/>
                      </a:pPr>
                      <a:r>
                        <a:rPr lang="en-US" sz="1200" kern="0">
                          <a:effectLst/>
                        </a:rPr>
                        <a:t>removed_before_2018</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0" dirty="0">
                          <a:effectLst/>
                        </a:rPr>
                        <a:t>FALSE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0" dirty="0">
                          <a:effectLst/>
                        </a:rPr>
                        <a:t>TRUE/FALSE flag if removed before 2018</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70203374"/>
                  </a:ext>
                </a:extLst>
              </a:tr>
              <a:tr h="181819">
                <a:tc>
                  <a:txBody>
                    <a:bodyPr/>
                    <a:lstStyle/>
                    <a:p>
                      <a:pPr marL="0" marR="0" algn="ctr">
                        <a:lnSpc>
                          <a:spcPct val="115000"/>
                        </a:lnSpc>
                        <a:spcAft>
                          <a:spcPts val="800"/>
                        </a:spcAft>
                        <a:buNone/>
                      </a:pPr>
                      <a:r>
                        <a:rPr lang="en-US" sz="1200" kern="0">
                          <a:effectLst/>
                        </a:rPr>
                        <a:t>removal_year</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dirty="0">
                          <a:effectLst/>
                          <a:latin typeface="+mn-lt"/>
                          <a:ea typeface="Aptos" panose="020B0004020202020204" pitchFamily="34" charset="0"/>
                          <a:cs typeface="Times New Roman" panose="02020603050405020304" pitchFamily="18" charset="0"/>
                        </a:rPr>
                        <a:t>Null</a:t>
                      </a:r>
                    </a:p>
                  </a:txBody>
                  <a:tcPr marL="68580" marR="68580" marT="0" marB="0"/>
                </a:tc>
                <a:tc>
                  <a:txBody>
                    <a:bodyPr/>
                    <a:lstStyle/>
                    <a:p>
                      <a:pPr marL="0" marR="0">
                        <a:lnSpc>
                          <a:spcPct val="115000"/>
                        </a:lnSpc>
                        <a:spcAft>
                          <a:spcPts val="800"/>
                        </a:spcAft>
                        <a:buNone/>
                      </a:pPr>
                      <a:r>
                        <a:rPr lang="en-US" sz="1200" kern="0" dirty="0">
                          <a:effectLst/>
                        </a:rPr>
                        <a:t>Year the tree was removed</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05913345"/>
                  </a:ext>
                </a:extLst>
              </a:tr>
              <a:tr h="374235">
                <a:tc>
                  <a:txBody>
                    <a:bodyPr/>
                    <a:lstStyle/>
                    <a:p>
                      <a:pPr marL="0" marR="0" algn="ctr">
                        <a:lnSpc>
                          <a:spcPct val="115000"/>
                        </a:lnSpc>
                        <a:spcAft>
                          <a:spcPts val="800"/>
                        </a:spcAft>
                        <a:buNone/>
                      </a:pPr>
                      <a:r>
                        <a:rPr lang="en-US" sz="1200" kern="0">
                          <a:effectLst/>
                        </a:rPr>
                        <a:t>include_in_year</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0" dirty="0">
                          <a:effectLst/>
                          <a:latin typeface="Aptos" panose="020B0004020202020204" pitchFamily="34" charset="0"/>
                          <a:ea typeface="Aptos" panose="020B0004020202020204" pitchFamily="34" charset="0"/>
                          <a:cs typeface="Times New Roman" panose="02020603050405020304" pitchFamily="18" charset="0"/>
                        </a:rPr>
                        <a:t>True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0" dirty="0">
                          <a:effectLst/>
                        </a:rPr>
                        <a:t>Custom Flag to include record in a given reporting year</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567280"/>
                  </a:ext>
                </a:extLst>
              </a:tr>
              <a:tr h="374235">
                <a:tc>
                  <a:txBody>
                    <a:bodyPr/>
                    <a:lstStyle/>
                    <a:p>
                      <a:pPr marL="0" marR="0" algn="ctr">
                        <a:lnSpc>
                          <a:spcPct val="115000"/>
                        </a:lnSpc>
                        <a:spcAft>
                          <a:spcPts val="800"/>
                        </a:spcAft>
                        <a:buNone/>
                      </a:pPr>
                      <a:r>
                        <a:rPr lang="en-US" sz="1200" kern="0">
                          <a:effectLst/>
                        </a:rPr>
                        <a:t>manual_year</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0">
                          <a:effectLst/>
                        </a:rPr>
                        <a:t>2010</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0" dirty="0">
                          <a:effectLst/>
                        </a:rPr>
                        <a:t>Manually assigned year for reporting / analysis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95013271"/>
                  </a:ext>
                </a:extLst>
              </a:tr>
            </a:tbl>
          </a:graphicData>
        </a:graphic>
      </p:graphicFrame>
    </p:spTree>
    <p:extLst>
      <p:ext uri="{BB962C8B-B14F-4D97-AF65-F5344CB8AC3E}">
        <p14:creationId xmlns:p14="http://schemas.microsoft.com/office/powerpoint/2010/main" val="29786233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EC3FF-60DD-E3C2-7FAC-CFF5B7E385C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9E1279C-554E-32B0-5B4C-7ABF796771A2}"/>
              </a:ext>
            </a:extLst>
          </p:cNvPr>
          <p:cNvSpPr>
            <a:spLocks noGrp="1"/>
          </p:cNvSpPr>
          <p:nvPr>
            <p:ph type="title"/>
          </p:nvPr>
        </p:nvSpPr>
        <p:spPr>
          <a:xfrm>
            <a:off x="1381119" y="336703"/>
            <a:ext cx="9808773" cy="1427585"/>
          </a:xfrm>
        </p:spPr>
        <p:txBody>
          <a:bodyPr/>
          <a:lstStyle/>
          <a:p>
            <a:r>
              <a:rPr lang="en-ZA" dirty="0"/>
              <a:t>Data Processing: Part 3 (Last Mile)</a:t>
            </a:r>
          </a:p>
        </p:txBody>
      </p:sp>
      <p:sp>
        <p:nvSpPr>
          <p:cNvPr id="4" name="Content Placeholder 3">
            <a:extLst>
              <a:ext uri="{FF2B5EF4-FFF2-40B4-BE49-F238E27FC236}">
                <a16:creationId xmlns:a16="http://schemas.microsoft.com/office/drawing/2014/main" id="{5EC8D4BB-02EE-A03C-BA7B-365724172B12}"/>
              </a:ext>
            </a:extLst>
          </p:cNvPr>
          <p:cNvSpPr>
            <a:spLocks noGrp="1"/>
          </p:cNvSpPr>
          <p:nvPr>
            <p:ph sz="quarter" idx="12"/>
          </p:nvPr>
        </p:nvSpPr>
        <p:spPr>
          <a:xfrm>
            <a:off x="1229032" y="1465006"/>
            <a:ext cx="10264878" cy="5392994"/>
          </a:xfrm>
        </p:spPr>
        <p:txBody>
          <a:bodyPr>
            <a:normAutofit fontScale="85000" lnSpcReduction="20000"/>
          </a:bodyPr>
          <a:lstStyle/>
          <a:p>
            <a:pPr marL="342900" indent="-342900">
              <a:buFont typeface="Arial" panose="020B0604020202020204" pitchFamily="34" charset="0"/>
              <a:buChar char="•"/>
            </a:pPr>
            <a:r>
              <a:rPr lang="en-US" dirty="0"/>
              <a:t>Read in the data yielded from Part 1 and Part 2.</a:t>
            </a:r>
          </a:p>
          <a:p>
            <a:pPr marL="342900" indent="-342900">
              <a:buFont typeface="Arial" panose="020B0604020202020204" pitchFamily="34" charset="0"/>
              <a:buChar char="•"/>
            </a:pPr>
            <a:r>
              <a:rPr lang="en-US" dirty="0"/>
              <a:t>Limited data to buildings present in both 2010 and 2017 using BBLs, and those buildings that had valid (non-null) weather normalized EUI values.</a:t>
            </a:r>
          </a:p>
          <a:p>
            <a:pPr marL="342900" indent="-342900">
              <a:buFont typeface="Arial" panose="020B0604020202020204" pitchFamily="34" charset="0"/>
              <a:buChar char="•"/>
            </a:pPr>
            <a:r>
              <a:rPr lang="en-US" dirty="0"/>
              <a:t>Spatially joined the tree point data to building footprints, allowing for 50-foot buffer.</a:t>
            </a:r>
          </a:p>
          <a:p>
            <a:pPr marL="342900" indent="-342900">
              <a:buFont typeface="Arial" panose="020B0604020202020204" pitchFamily="34" charset="0"/>
              <a:buChar char="•"/>
            </a:pPr>
            <a:r>
              <a:rPr lang="en-US" dirty="0"/>
              <a:t>Aggregated tree counts for each building for each year (2010 &amp; 2017)</a:t>
            </a:r>
          </a:p>
          <a:p>
            <a:pPr marL="342900" indent="-342900">
              <a:buFont typeface="Arial" panose="020B0604020202020204" pitchFamily="34" charset="0"/>
              <a:buChar char="•"/>
            </a:pPr>
            <a:r>
              <a:rPr lang="en-US" dirty="0"/>
              <a:t>Final filtering:</a:t>
            </a:r>
          </a:p>
          <a:p>
            <a:pPr marL="571500" lvl="1" indent="-342900"/>
            <a:r>
              <a:rPr lang="en-US" dirty="0"/>
              <a:t>Removed extreme EUI numbers (&lt;1</a:t>
            </a:r>
            <a:r>
              <a:rPr lang="en-US" baseline="30000" dirty="0"/>
              <a:t>st</a:t>
            </a:r>
            <a:r>
              <a:rPr lang="en-US" dirty="0"/>
              <a:t> Percentile &amp; &gt;99</a:t>
            </a:r>
            <a:r>
              <a:rPr lang="en-US" baseline="30000" dirty="0"/>
              <a:t>th</a:t>
            </a:r>
            <a:r>
              <a:rPr lang="en-US" dirty="0"/>
              <a:t> Percentile)</a:t>
            </a:r>
          </a:p>
          <a:p>
            <a:pPr marL="571500" lvl="1" indent="-342900"/>
            <a:r>
              <a:rPr lang="en-US" dirty="0"/>
              <a:t>Limited to residential building classes (C and D classes)</a:t>
            </a:r>
          </a:p>
          <a:p>
            <a:pPr marL="571500" lvl="1" indent="-342900"/>
            <a:r>
              <a:rPr lang="en-US" dirty="0"/>
              <a:t>Limited to buildings that were 6-stories or under</a:t>
            </a:r>
          </a:p>
          <a:p>
            <a:pPr marL="571500" lvl="1" indent="-342900"/>
            <a:r>
              <a:rPr lang="en-US" dirty="0"/>
              <a:t>Removed buildings with a construction year of before 1900</a:t>
            </a:r>
          </a:p>
          <a:p>
            <a:pPr marL="342900" indent="-342900">
              <a:buFont typeface="Arial" panose="020B0604020202020204" pitchFamily="34" charset="0"/>
              <a:buChar char="•"/>
            </a:pPr>
            <a:r>
              <a:rPr lang="en-US" dirty="0"/>
              <a:t> Feature Engineering:</a:t>
            </a:r>
          </a:p>
          <a:p>
            <a:pPr marL="571500" lvl="1" indent="-342900"/>
            <a:r>
              <a:rPr lang="en-US" dirty="0"/>
              <a:t>Year-built brackets (Pre-1950, 1950-1980, Post 1980)</a:t>
            </a:r>
          </a:p>
          <a:p>
            <a:pPr marL="571500" lvl="1" indent="-342900"/>
            <a:r>
              <a:rPr lang="en-US" dirty="0"/>
              <a:t>Commercial flag, binary flag indicating based on zoning class if the first floor of a building was commercial.</a:t>
            </a:r>
          </a:p>
        </p:txBody>
      </p:sp>
      <p:sp>
        <p:nvSpPr>
          <p:cNvPr id="5" name="Slide Number Placeholder 4">
            <a:extLst>
              <a:ext uri="{FF2B5EF4-FFF2-40B4-BE49-F238E27FC236}">
                <a16:creationId xmlns:a16="http://schemas.microsoft.com/office/drawing/2014/main" id="{4B3B5515-80E2-CF7C-50FC-DA4367012BD5}"/>
              </a:ext>
            </a:extLst>
          </p:cNvPr>
          <p:cNvSpPr>
            <a:spLocks noGrp="1"/>
          </p:cNvSpPr>
          <p:nvPr>
            <p:ph type="sldNum" sz="quarter" idx="15"/>
          </p:nvPr>
        </p:nvSpPr>
        <p:spPr/>
        <p:txBody>
          <a:bodyPr/>
          <a:lstStyle/>
          <a:p>
            <a:fld id="{18D65601-5AE2-46FC-B138-694DDD2B510D}" type="slidenum">
              <a:rPr lang="en-US" smtClean="0"/>
              <a:pPr/>
              <a:t>16</a:t>
            </a:fld>
            <a:endParaRPr lang="en-US" dirty="0"/>
          </a:p>
        </p:txBody>
      </p:sp>
    </p:spTree>
    <p:extLst>
      <p:ext uri="{BB962C8B-B14F-4D97-AF65-F5344CB8AC3E}">
        <p14:creationId xmlns:p14="http://schemas.microsoft.com/office/powerpoint/2010/main" val="2002482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3F0AD-7FA5-94F1-5937-91BB5D1B28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D0BE2F-046E-CF88-D258-99F8AEDB7F4E}"/>
              </a:ext>
            </a:extLst>
          </p:cNvPr>
          <p:cNvSpPr>
            <a:spLocks noGrp="1"/>
          </p:cNvSpPr>
          <p:nvPr>
            <p:ph type="title"/>
          </p:nvPr>
        </p:nvSpPr>
        <p:spPr>
          <a:xfrm>
            <a:off x="1038031" y="1068169"/>
            <a:ext cx="10115939" cy="2681549"/>
          </a:xfrm>
        </p:spPr>
        <p:txBody>
          <a:bodyPr/>
          <a:lstStyle/>
          <a:p>
            <a:r>
              <a:rPr lang="en-US" dirty="0"/>
              <a:t>Working Dataset</a:t>
            </a:r>
            <a:endParaRPr lang="en-ZA" dirty="0"/>
          </a:p>
        </p:txBody>
      </p:sp>
    </p:spTree>
    <p:extLst>
      <p:ext uri="{BB962C8B-B14F-4D97-AF65-F5344CB8AC3E}">
        <p14:creationId xmlns:p14="http://schemas.microsoft.com/office/powerpoint/2010/main" val="17310775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C2364-6B85-9897-8E47-1972698C451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A4AF706-D064-FF89-047E-7C8F67DDE811}"/>
              </a:ext>
            </a:extLst>
          </p:cNvPr>
          <p:cNvSpPr>
            <a:spLocks noGrp="1"/>
          </p:cNvSpPr>
          <p:nvPr>
            <p:ph type="title"/>
          </p:nvPr>
        </p:nvSpPr>
        <p:spPr>
          <a:xfrm>
            <a:off x="1381119" y="336703"/>
            <a:ext cx="9808773" cy="1427585"/>
          </a:xfrm>
        </p:spPr>
        <p:txBody>
          <a:bodyPr/>
          <a:lstStyle/>
          <a:p>
            <a:r>
              <a:rPr lang="en-ZA" dirty="0"/>
              <a:t>Working Dataset</a:t>
            </a:r>
          </a:p>
        </p:txBody>
      </p:sp>
      <p:sp>
        <p:nvSpPr>
          <p:cNvPr id="5" name="Slide Number Placeholder 4">
            <a:extLst>
              <a:ext uri="{FF2B5EF4-FFF2-40B4-BE49-F238E27FC236}">
                <a16:creationId xmlns:a16="http://schemas.microsoft.com/office/drawing/2014/main" id="{8B2DECF7-A496-C593-A094-E14710E2EA64}"/>
              </a:ext>
            </a:extLst>
          </p:cNvPr>
          <p:cNvSpPr>
            <a:spLocks noGrp="1"/>
          </p:cNvSpPr>
          <p:nvPr>
            <p:ph type="sldNum" sz="quarter" idx="15"/>
          </p:nvPr>
        </p:nvSpPr>
        <p:spPr/>
        <p:txBody>
          <a:bodyPr/>
          <a:lstStyle/>
          <a:p>
            <a:fld id="{18D65601-5AE2-46FC-B138-694DDD2B510D}" type="slidenum">
              <a:rPr lang="en-US" smtClean="0"/>
              <a:pPr/>
              <a:t>18</a:t>
            </a:fld>
            <a:endParaRPr lang="en-US" dirty="0"/>
          </a:p>
        </p:txBody>
      </p:sp>
      <p:graphicFrame>
        <p:nvGraphicFramePr>
          <p:cNvPr id="7" name="Table 6">
            <a:extLst>
              <a:ext uri="{FF2B5EF4-FFF2-40B4-BE49-F238E27FC236}">
                <a16:creationId xmlns:a16="http://schemas.microsoft.com/office/drawing/2014/main" id="{0E5A0272-C14F-81BC-633B-A2A3EE01212A}"/>
              </a:ext>
            </a:extLst>
          </p:cNvPr>
          <p:cNvGraphicFramePr>
            <a:graphicFrameLocks noGrp="1"/>
          </p:cNvGraphicFramePr>
          <p:nvPr>
            <p:extLst>
              <p:ext uri="{D42A27DB-BD31-4B8C-83A1-F6EECF244321}">
                <p14:modId xmlns:p14="http://schemas.microsoft.com/office/powerpoint/2010/main" val="1463235584"/>
              </p:ext>
            </p:extLst>
          </p:nvPr>
        </p:nvGraphicFramePr>
        <p:xfrm>
          <a:off x="1323866" y="1764288"/>
          <a:ext cx="9923277" cy="4250454"/>
        </p:xfrm>
        <a:graphic>
          <a:graphicData uri="http://schemas.openxmlformats.org/drawingml/2006/table">
            <a:tbl>
              <a:tblPr firstRow="1" firstCol="1" bandRow="1">
                <a:tableStyleId>{68D230F3-CF80-4859-8CE7-A43EE81993B5}</a:tableStyleId>
              </a:tblPr>
              <a:tblGrid>
                <a:gridCol w="2835644">
                  <a:extLst>
                    <a:ext uri="{9D8B030D-6E8A-4147-A177-3AD203B41FA5}">
                      <a16:colId xmlns:a16="http://schemas.microsoft.com/office/drawing/2014/main" val="3541689097"/>
                    </a:ext>
                  </a:extLst>
                </a:gridCol>
                <a:gridCol w="1946243">
                  <a:extLst>
                    <a:ext uri="{9D8B030D-6E8A-4147-A177-3AD203B41FA5}">
                      <a16:colId xmlns:a16="http://schemas.microsoft.com/office/drawing/2014/main" val="785516071"/>
                    </a:ext>
                  </a:extLst>
                </a:gridCol>
                <a:gridCol w="5141390">
                  <a:extLst>
                    <a:ext uri="{9D8B030D-6E8A-4147-A177-3AD203B41FA5}">
                      <a16:colId xmlns:a16="http://schemas.microsoft.com/office/drawing/2014/main" val="1726844013"/>
                    </a:ext>
                  </a:extLst>
                </a:gridCol>
              </a:tblGrid>
              <a:tr h="248324">
                <a:tc>
                  <a:txBody>
                    <a:bodyPr/>
                    <a:lstStyle/>
                    <a:p>
                      <a:pPr marL="0" marR="0" algn="ctr">
                        <a:lnSpc>
                          <a:spcPct val="115000"/>
                        </a:lnSpc>
                        <a:spcAft>
                          <a:spcPts val="800"/>
                        </a:spcAft>
                        <a:buNone/>
                      </a:pPr>
                      <a:r>
                        <a:rPr lang="en-US" sz="1400" kern="0">
                          <a:effectLst/>
                        </a:rPr>
                        <a:t>Original Column Name</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0">
                          <a:effectLst/>
                        </a:rPr>
                        <a:t>Example Value</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0">
                          <a:effectLst/>
                        </a:rPr>
                        <a:t>Column Description</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57040281"/>
                  </a:ext>
                </a:extLst>
              </a:tr>
              <a:tr h="248324">
                <a:tc>
                  <a:txBody>
                    <a:bodyPr/>
                    <a:lstStyle/>
                    <a:p>
                      <a:pPr marL="0" marR="0" algn="ctr">
                        <a:lnSpc>
                          <a:spcPct val="115000"/>
                        </a:lnSpc>
                        <a:spcAft>
                          <a:spcPts val="800"/>
                        </a:spcAft>
                        <a:buNone/>
                      </a:pPr>
                      <a:r>
                        <a:rPr lang="en-US" sz="1400" kern="100" dirty="0">
                          <a:effectLst/>
                        </a:rPr>
                        <a:t>year</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2010</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Reporting / analysis year</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48552845"/>
                  </a:ext>
                </a:extLst>
              </a:tr>
              <a:tr h="248324">
                <a:tc>
                  <a:txBody>
                    <a:bodyPr/>
                    <a:lstStyle/>
                    <a:p>
                      <a:pPr marL="0" marR="0" algn="ctr">
                        <a:lnSpc>
                          <a:spcPct val="115000"/>
                        </a:lnSpc>
                        <a:spcAft>
                          <a:spcPts val="800"/>
                        </a:spcAft>
                        <a:buNone/>
                      </a:pPr>
                      <a:r>
                        <a:rPr lang="en-US" sz="1400" kern="100">
                          <a:effectLst/>
                        </a:rPr>
                        <a:t>ct2010</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001900</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2010 Census tract code for the building</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34636184"/>
                  </a:ext>
                </a:extLst>
              </a:tr>
              <a:tr h="248324">
                <a:tc>
                  <a:txBody>
                    <a:bodyPr/>
                    <a:lstStyle/>
                    <a:p>
                      <a:pPr marL="0" marR="0" algn="ctr">
                        <a:lnSpc>
                          <a:spcPct val="115000"/>
                        </a:lnSpc>
                        <a:spcAft>
                          <a:spcPts val="800"/>
                        </a:spcAft>
                        <a:buNone/>
                      </a:pPr>
                      <a:r>
                        <a:rPr lang="en-US" sz="1400" kern="100">
                          <a:effectLst/>
                        </a:rPr>
                        <a:t>bbl</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2023090001</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Borough–Block–Lot ID for the building</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24415512"/>
                  </a:ext>
                </a:extLst>
              </a:tr>
              <a:tr h="248324">
                <a:tc>
                  <a:txBody>
                    <a:bodyPr/>
                    <a:lstStyle/>
                    <a:p>
                      <a:pPr marL="0" marR="0" algn="ctr">
                        <a:lnSpc>
                          <a:spcPct val="115000"/>
                        </a:lnSpc>
                        <a:spcAft>
                          <a:spcPts val="800"/>
                        </a:spcAft>
                        <a:buNone/>
                      </a:pPr>
                      <a:r>
                        <a:rPr lang="en-US" sz="1400" kern="100">
                          <a:effectLst/>
                        </a:rPr>
                        <a:t>year_built</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1920</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Year the building was constructed</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53379794"/>
                  </a:ext>
                </a:extLst>
              </a:tr>
              <a:tr h="248324">
                <a:tc>
                  <a:txBody>
                    <a:bodyPr/>
                    <a:lstStyle/>
                    <a:p>
                      <a:pPr marL="0" marR="0" algn="ctr">
                        <a:lnSpc>
                          <a:spcPct val="115000"/>
                        </a:lnSpc>
                        <a:spcAft>
                          <a:spcPts val="800"/>
                        </a:spcAft>
                        <a:buNone/>
                      </a:pPr>
                      <a:r>
                        <a:rPr lang="en-US" sz="1400" kern="100">
                          <a:effectLst/>
                        </a:rPr>
                        <a:t>year_built_bracket</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Pre-1950</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Categorical age band derived from year_built</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80291349"/>
                  </a:ext>
                </a:extLst>
              </a:tr>
              <a:tr h="511121">
                <a:tc>
                  <a:txBody>
                    <a:bodyPr/>
                    <a:lstStyle/>
                    <a:p>
                      <a:pPr marL="0" marR="0" algn="ctr">
                        <a:lnSpc>
                          <a:spcPct val="115000"/>
                        </a:lnSpc>
                        <a:spcAft>
                          <a:spcPts val="800"/>
                        </a:spcAft>
                        <a:buNone/>
                      </a:pPr>
                      <a:r>
                        <a:rPr lang="en-US" sz="1400" kern="100">
                          <a:effectLst/>
                        </a:rPr>
                        <a:t>BldgClass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D7</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NYC building class code describing the building type / use</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32731098"/>
                  </a:ext>
                </a:extLst>
              </a:tr>
              <a:tr h="248324">
                <a:tc>
                  <a:txBody>
                    <a:bodyPr/>
                    <a:lstStyle/>
                    <a:p>
                      <a:pPr marL="0" marR="0" algn="ctr">
                        <a:lnSpc>
                          <a:spcPct val="115000"/>
                        </a:lnSpc>
                        <a:spcAft>
                          <a:spcPts val="800"/>
                        </a:spcAft>
                        <a:buNone/>
                      </a:pPr>
                      <a:r>
                        <a:rPr lang="en-US" sz="1400" kern="100">
                          <a:effectLst/>
                        </a:rPr>
                        <a:t>NumFloors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5.0</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Number of floors in the building</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5634183"/>
                  </a:ext>
                </a:extLst>
              </a:tr>
              <a:tr h="248324">
                <a:tc>
                  <a:txBody>
                    <a:bodyPr/>
                    <a:lstStyle/>
                    <a:p>
                      <a:pPr marL="0" marR="0" algn="ctr">
                        <a:lnSpc>
                          <a:spcPct val="115000"/>
                        </a:lnSpc>
                        <a:spcAft>
                          <a:spcPts val="800"/>
                        </a:spcAft>
                        <a:buNone/>
                      </a:pPr>
                      <a:r>
                        <a:rPr lang="en-US" sz="1400" kern="100">
                          <a:effectLst/>
                        </a:rPr>
                        <a:t>UnitsRes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75.0</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Number of residential units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96065956"/>
                  </a:ext>
                </a:extLst>
              </a:tr>
              <a:tr h="248324">
                <a:tc>
                  <a:txBody>
                    <a:bodyPr/>
                    <a:lstStyle/>
                    <a:p>
                      <a:pPr marL="0" marR="0" algn="ctr">
                        <a:lnSpc>
                          <a:spcPct val="115000"/>
                        </a:lnSpc>
                        <a:spcAft>
                          <a:spcPts val="800"/>
                        </a:spcAft>
                        <a:buNone/>
                      </a:pPr>
                      <a:r>
                        <a:rPr lang="en-US" sz="1400" kern="100">
                          <a:effectLst/>
                        </a:rPr>
                        <a:t>ground_elevation</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9.0</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Ground elevation (units as in source data, likely feet)</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8263115"/>
                  </a:ext>
                </a:extLst>
              </a:tr>
              <a:tr h="248324">
                <a:tc>
                  <a:txBody>
                    <a:bodyPr/>
                    <a:lstStyle/>
                    <a:p>
                      <a:pPr marL="0" marR="0" algn="ctr">
                        <a:lnSpc>
                          <a:spcPct val="115000"/>
                        </a:lnSpc>
                        <a:spcAft>
                          <a:spcPts val="800"/>
                        </a:spcAft>
                        <a:buNone/>
                      </a:pPr>
                      <a:r>
                        <a:rPr lang="en-US" sz="1400" kern="100">
                          <a:effectLst/>
                        </a:rPr>
                        <a:t>height_roof</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40.7</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Height of roof above ground.</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8955566"/>
                  </a:ext>
                </a:extLst>
              </a:tr>
              <a:tr h="248324">
                <a:tc>
                  <a:txBody>
                    <a:bodyPr/>
                    <a:lstStyle/>
                    <a:p>
                      <a:pPr marL="0" marR="0" algn="ctr">
                        <a:lnSpc>
                          <a:spcPct val="115000"/>
                        </a:lnSpc>
                        <a:spcAft>
                          <a:spcPts val="800"/>
                        </a:spcAft>
                        <a:buNone/>
                      </a:pPr>
                      <a:r>
                        <a:rPr lang="en-US" sz="1400" kern="100">
                          <a:effectLst/>
                        </a:rPr>
                        <a:t>canopy_change_class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Gain</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Tree canopy change classification</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35002519"/>
                  </a:ext>
                </a:extLst>
              </a:tr>
              <a:tr h="248324">
                <a:tc>
                  <a:txBody>
                    <a:bodyPr/>
                    <a:lstStyle/>
                    <a:p>
                      <a:pPr marL="0" marR="0" algn="ctr">
                        <a:lnSpc>
                          <a:spcPct val="115000"/>
                        </a:lnSpc>
                        <a:spcAft>
                          <a:spcPts val="800"/>
                        </a:spcAft>
                        <a:buNone/>
                      </a:pPr>
                      <a:r>
                        <a:rPr lang="en-US" sz="1400" kern="100">
                          <a:effectLst/>
                        </a:rPr>
                        <a:t>weather_normalized_site_eui</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dirty="0">
                          <a:effectLst/>
                        </a:rPr>
                        <a:t>92.68</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Weather-normalized site EUI (kBtu/ft²)</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19045059"/>
                  </a:ext>
                </a:extLst>
              </a:tr>
              <a:tr h="511121">
                <a:tc>
                  <a:txBody>
                    <a:bodyPr/>
                    <a:lstStyle/>
                    <a:p>
                      <a:pPr marL="0" marR="0" algn="ctr">
                        <a:lnSpc>
                          <a:spcPct val="115000"/>
                        </a:lnSpc>
                        <a:spcAft>
                          <a:spcPts val="800"/>
                        </a:spcAft>
                        <a:buNone/>
                      </a:pPr>
                      <a:r>
                        <a:rPr lang="en-US" sz="1400" kern="100">
                          <a:effectLst/>
                        </a:rPr>
                        <a:t>tree_count</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12</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Total number of trees within 50 ft of the building footprint</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24450310"/>
                  </a:ext>
                </a:extLst>
              </a:tr>
              <a:tr h="248324">
                <a:tc>
                  <a:txBody>
                    <a:bodyPr/>
                    <a:lstStyle/>
                    <a:p>
                      <a:pPr marL="0" marR="0" algn="ctr">
                        <a:lnSpc>
                          <a:spcPct val="115000"/>
                        </a:lnSpc>
                        <a:spcAft>
                          <a:spcPts val="800"/>
                        </a:spcAft>
                        <a:buNone/>
                      </a:pPr>
                      <a:r>
                        <a:rPr lang="en-US" sz="1400" kern="100">
                          <a:effectLst/>
                        </a:rPr>
                        <a:t>commercial_floor_flag</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1</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dirty="0">
                          <a:effectLst/>
                        </a:rPr>
                        <a:t>Commercially zoned first floor flag (1/0)</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1777746"/>
                  </a:ext>
                </a:extLst>
              </a:tr>
            </a:tbl>
          </a:graphicData>
        </a:graphic>
      </p:graphicFrame>
    </p:spTree>
    <p:extLst>
      <p:ext uri="{BB962C8B-B14F-4D97-AF65-F5344CB8AC3E}">
        <p14:creationId xmlns:p14="http://schemas.microsoft.com/office/powerpoint/2010/main" val="6368125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EE6A2-860C-0C77-492F-8FADF1D5ABF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7521DA8-F209-9449-58E6-D69D9A7F0098}"/>
              </a:ext>
            </a:extLst>
          </p:cNvPr>
          <p:cNvSpPr>
            <a:spLocks noGrp="1"/>
          </p:cNvSpPr>
          <p:nvPr>
            <p:ph type="title"/>
          </p:nvPr>
        </p:nvSpPr>
        <p:spPr>
          <a:xfrm>
            <a:off x="1381119" y="336703"/>
            <a:ext cx="9808773" cy="1427585"/>
          </a:xfrm>
        </p:spPr>
        <p:txBody>
          <a:bodyPr/>
          <a:lstStyle/>
          <a:p>
            <a:r>
              <a:rPr lang="en-ZA" dirty="0"/>
              <a:t>Working Dataset</a:t>
            </a:r>
          </a:p>
        </p:txBody>
      </p:sp>
      <p:sp>
        <p:nvSpPr>
          <p:cNvPr id="5" name="Slide Number Placeholder 4">
            <a:extLst>
              <a:ext uri="{FF2B5EF4-FFF2-40B4-BE49-F238E27FC236}">
                <a16:creationId xmlns:a16="http://schemas.microsoft.com/office/drawing/2014/main" id="{9FF7F2D8-0AA7-3B92-9301-72A44A993AEA}"/>
              </a:ext>
            </a:extLst>
          </p:cNvPr>
          <p:cNvSpPr>
            <a:spLocks noGrp="1"/>
          </p:cNvSpPr>
          <p:nvPr>
            <p:ph type="sldNum" sz="quarter" idx="15"/>
          </p:nvPr>
        </p:nvSpPr>
        <p:spPr/>
        <p:txBody>
          <a:bodyPr/>
          <a:lstStyle/>
          <a:p>
            <a:fld id="{18D65601-5AE2-46FC-B138-694DDD2B510D}" type="slidenum">
              <a:rPr lang="en-US" smtClean="0"/>
              <a:pPr/>
              <a:t>19</a:t>
            </a:fld>
            <a:endParaRPr lang="en-US" dirty="0"/>
          </a:p>
        </p:txBody>
      </p:sp>
      <p:graphicFrame>
        <p:nvGraphicFramePr>
          <p:cNvPr id="2" name="Table 1">
            <a:extLst>
              <a:ext uri="{FF2B5EF4-FFF2-40B4-BE49-F238E27FC236}">
                <a16:creationId xmlns:a16="http://schemas.microsoft.com/office/drawing/2014/main" id="{B5D9CDF1-CD19-4967-EDAD-E47FB8F0D28E}"/>
              </a:ext>
            </a:extLst>
          </p:cNvPr>
          <p:cNvGraphicFramePr>
            <a:graphicFrameLocks noGrp="1"/>
          </p:cNvGraphicFramePr>
          <p:nvPr>
            <p:extLst>
              <p:ext uri="{D42A27DB-BD31-4B8C-83A1-F6EECF244321}">
                <p14:modId xmlns:p14="http://schemas.microsoft.com/office/powerpoint/2010/main" val="1362590524"/>
              </p:ext>
            </p:extLst>
          </p:nvPr>
        </p:nvGraphicFramePr>
        <p:xfrm>
          <a:off x="3200399" y="2591179"/>
          <a:ext cx="6445044" cy="1784176"/>
        </p:xfrm>
        <a:graphic>
          <a:graphicData uri="http://schemas.openxmlformats.org/drawingml/2006/table">
            <a:tbl>
              <a:tblPr firstRow="1" firstCol="1" bandRow="1">
                <a:tableStyleId>{2A488322-F2BA-4B5B-9748-0D474271808F}</a:tableStyleId>
              </a:tblPr>
              <a:tblGrid>
                <a:gridCol w="2148348">
                  <a:extLst>
                    <a:ext uri="{9D8B030D-6E8A-4147-A177-3AD203B41FA5}">
                      <a16:colId xmlns:a16="http://schemas.microsoft.com/office/drawing/2014/main" val="1909607743"/>
                    </a:ext>
                  </a:extLst>
                </a:gridCol>
                <a:gridCol w="2148348">
                  <a:extLst>
                    <a:ext uri="{9D8B030D-6E8A-4147-A177-3AD203B41FA5}">
                      <a16:colId xmlns:a16="http://schemas.microsoft.com/office/drawing/2014/main" val="146503469"/>
                    </a:ext>
                  </a:extLst>
                </a:gridCol>
                <a:gridCol w="2148348">
                  <a:extLst>
                    <a:ext uri="{9D8B030D-6E8A-4147-A177-3AD203B41FA5}">
                      <a16:colId xmlns:a16="http://schemas.microsoft.com/office/drawing/2014/main" val="2424380852"/>
                    </a:ext>
                  </a:extLst>
                </a:gridCol>
              </a:tblGrid>
              <a:tr h="446044">
                <a:tc>
                  <a:txBody>
                    <a:bodyPr/>
                    <a:lstStyle/>
                    <a:p>
                      <a:pPr marL="0" marR="0">
                        <a:lnSpc>
                          <a:spcPct val="115000"/>
                        </a:lnSpc>
                        <a:spcAft>
                          <a:spcPts val="800"/>
                        </a:spcAft>
                        <a:buNone/>
                      </a:pPr>
                      <a:r>
                        <a:rPr lang="en-US" sz="2000" kern="100">
                          <a:effectLst/>
                        </a:rPr>
                        <a:t>Canopy Change</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000" kern="100" dirty="0">
                          <a:effectLst/>
                        </a:rPr>
                        <a:t>BBL Count 2010</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000" kern="100" dirty="0">
                          <a:effectLst/>
                        </a:rPr>
                        <a:t>BBL Count 2017</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37754091"/>
                  </a:ext>
                </a:extLst>
              </a:tr>
              <a:tr h="446044">
                <a:tc>
                  <a:txBody>
                    <a:bodyPr/>
                    <a:lstStyle/>
                    <a:p>
                      <a:pPr marL="0" marR="0">
                        <a:lnSpc>
                          <a:spcPct val="115000"/>
                        </a:lnSpc>
                        <a:spcAft>
                          <a:spcPts val="800"/>
                        </a:spcAft>
                        <a:buNone/>
                      </a:pPr>
                      <a:r>
                        <a:rPr lang="en-US" sz="2000" kern="100">
                          <a:effectLst/>
                        </a:rPr>
                        <a:t>Gain</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a:effectLst/>
                        </a:rPr>
                        <a:t>93</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a:effectLst/>
                        </a:rPr>
                        <a:t>93</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14885455"/>
                  </a:ext>
                </a:extLst>
              </a:tr>
              <a:tr h="446044">
                <a:tc>
                  <a:txBody>
                    <a:bodyPr/>
                    <a:lstStyle/>
                    <a:p>
                      <a:pPr marL="0" marR="0">
                        <a:lnSpc>
                          <a:spcPct val="115000"/>
                        </a:lnSpc>
                        <a:spcAft>
                          <a:spcPts val="800"/>
                        </a:spcAft>
                        <a:buNone/>
                      </a:pPr>
                      <a:r>
                        <a:rPr lang="en-US" sz="2000" kern="100">
                          <a:effectLst/>
                        </a:rPr>
                        <a:t>Loss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a:effectLst/>
                        </a:rPr>
                        <a:t>36</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a:effectLst/>
                        </a:rPr>
                        <a:t>36</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36718437"/>
                  </a:ext>
                </a:extLst>
              </a:tr>
              <a:tr h="446044">
                <a:tc>
                  <a:txBody>
                    <a:bodyPr/>
                    <a:lstStyle/>
                    <a:p>
                      <a:pPr marL="0" marR="0">
                        <a:lnSpc>
                          <a:spcPct val="115000"/>
                        </a:lnSpc>
                        <a:spcAft>
                          <a:spcPts val="800"/>
                        </a:spcAft>
                        <a:buNone/>
                      </a:pPr>
                      <a:r>
                        <a:rPr lang="en-US" sz="2000" kern="100" dirty="0">
                          <a:effectLst/>
                        </a:rPr>
                        <a:t>No Change</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dirty="0">
                          <a:effectLst/>
                        </a:rPr>
                        <a:t>386</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dirty="0">
                          <a:effectLst/>
                        </a:rPr>
                        <a:t>386</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9990490"/>
                  </a:ext>
                </a:extLst>
              </a:tr>
            </a:tbl>
          </a:graphicData>
        </a:graphic>
      </p:graphicFrame>
    </p:spTree>
    <p:extLst>
      <p:ext uri="{BB962C8B-B14F-4D97-AF65-F5344CB8AC3E}">
        <p14:creationId xmlns:p14="http://schemas.microsoft.com/office/powerpoint/2010/main" val="41485386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939BA-76BF-B910-3503-F4D14642089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2EB5BB-5012-05D1-2331-D8A577F216A9}"/>
              </a:ext>
            </a:extLst>
          </p:cNvPr>
          <p:cNvSpPr>
            <a:spLocks noGrp="1"/>
          </p:cNvSpPr>
          <p:nvPr>
            <p:ph type="title"/>
          </p:nvPr>
        </p:nvSpPr>
        <p:spPr>
          <a:xfrm>
            <a:off x="1381119" y="336703"/>
            <a:ext cx="9808773" cy="1427585"/>
          </a:xfrm>
        </p:spPr>
        <p:txBody>
          <a:bodyPr/>
          <a:lstStyle/>
          <a:p>
            <a:r>
              <a:rPr lang="en-ZA" dirty="0"/>
              <a:t>Working Dataset</a:t>
            </a:r>
          </a:p>
        </p:txBody>
      </p:sp>
      <p:sp>
        <p:nvSpPr>
          <p:cNvPr id="5" name="Slide Number Placeholder 4">
            <a:extLst>
              <a:ext uri="{FF2B5EF4-FFF2-40B4-BE49-F238E27FC236}">
                <a16:creationId xmlns:a16="http://schemas.microsoft.com/office/drawing/2014/main" id="{B2539542-D2A1-A7CB-B884-DF81BAE64374}"/>
              </a:ext>
            </a:extLst>
          </p:cNvPr>
          <p:cNvSpPr>
            <a:spLocks noGrp="1"/>
          </p:cNvSpPr>
          <p:nvPr>
            <p:ph type="sldNum" sz="quarter" idx="15"/>
          </p:nvPr>
        </p:nvSpPr>
        <p:spPr/>
        <p:txBody>
          <a:bodyPr/>
          <a:lstStyle/>
          <a:p>
            <a:fld id="{18D65601-5AE2-46FC-B138-694DDD2B510D}" type="slidenum">
              <a:rPr lang="en-US" smtClean="0"/>
              <a:pPr/>
              <a:t>20</a:t>
            </a:fld>
            <a:endParaRPr lang="en-US" dirty="0"/>
          </a:p>
        </p:txBody>
      </p:sp>
      <p:pic>
        <p:nvPicPr>
          <p:cNvPr id="4" name="Picture 3">
            <a:extLst>
              <a:ext uri="{FF2B5EF4-FFF2-40B4-BE49-F238E27FC236}">
                <a16:creationId xmlns:a16="http://schemas.microsoft.com/office/drawing/2014/main" id="{D7B92C2E-08C3-2265-2321-4D54C309C65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793349" y="26327"/>
            <a:ext cx="3675016" cy="6831673"/>
          </a:xfrm>
          <a:prstGeom prst="rect">
            <a:avLst/>
          </a:prstGeom>
          <a:noFill/>
          <a:ln>
            <a:noFill/>
          </a:ln>
        </p:spPr>
      </p:pic>
      <p:sp>
        <p:nvSpPr>
          <p:cNvPr id="6" name="Content Placeholder 3">
            <a:extLst>
              <a:ext uri="{FF2B5EF4-FFF2-40B4-BE49-F238E27FC236}">
                <a16:creationId xmlns:a16="http://schemas.microsoft.com/office/drawing/2014/main" id="{18C7F2BE-9EB5-8A91-4F77-F5541D8183E1}"/>
              </a:ext>
            </a:extLst>
          </p:cNvPr>
          <p:cNvSpPr>
            <a:spLocks noGrp="1"/>
          </p:cNvSpPr>
          <p:nvPr>
            <p:ph sz="quarter" idx="12"/>
          </p:nvPr>
        </p:nvSpPr>
        <p:spPr>
          <a:xfrm>
            <a:off x="1116493" y="2188488"/>
            <a:ext cx="6564317" cy="5392994"/>
          </a:xfrm>
        </p:spPr>
        <p:txBody>
          <a:bodyPr>
            <a:normAutofit/>
          </a:bodyPr>
          <a:lstStyle/>
          <a:p>
            <a:pPr marL="342900" indent="-342900">
              <a:buFont typeface="Arial" panose="020B0604020202020204" pitchFamily="34" charset="0"/>
              <a:buChar char="•"/>
            </a:pPr>
            <a:r>
              <a:rPr lang="en-US" dirty="0"/>
              <a:t>Buildings remaining in the working dataset were in all five boroughs.</a:t>
            </a:r>
          </a:p>
          <a:p>
            <a:pPr marL="571500" lvl="1" indent="-342900"/>
            <a:r>
              <a:rPr lang="en-US" dirty="0"/>
              <a:t>Manhattan: Inwood, Washington Heights</a:t>
            </a:r>
          </a:p>
          <a:p>
            <a:pPr marL="571500" lvl="1" indent="-342900"/>
            <a:r>
              <a:rPr lang="en-US" dirty="0"/>
              <a:t>The Bronx: Kingsbridge, Concourse, Claremont</a:t>
            </a:r>
          </a:p>
          <a:p>
            <a:pPr marL="571500" lvl="1" indent="-342900"/>
            <a:r>
              <a:rPr lang="en-US" dirty="0"/>
              <a:t>Brooklyn: Clinton Hill, Bedford-Stuyvesant </a:t>
            </a:r>
          </a:p>
          <a:p>
            <a:pPr marL="571500" lvl="1" indent="-342900"/>
            <a:r>
              <a:rPr lang="en-US" dirty="0"/>
              <a:t>Queens: Corona, Jackson Heights, Elmhurst</a:t>
            </a:r>
          </a:p>
          <a:p>
            <a:pPr marL="571500" lvl="1" indent="-342900"/>
            <a:r>
              <a:rPr lang="en-US" dirty="0"/>
              <a:t>Staten Island: Fresh Kills, Richmond</a:t>
            </a:r>
          </a:p>
        </p:txBody>
      </p:sp>
    </p:spTree>
    <p:extLst>
      <p:ext uri="{BB962C8B-B14F-4D97-AF65-F5344CB8AC3E}">
        <p14:creationId xmlns:p14="http://schemas.microsoft.com/office/powerpoint/2010/main" val="5966186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9BF96-F317-25F9-42B2-5AAECFBB908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73D4C62-9B2C-A598-856C-7C4E914A14BE}"/>
              </a:ext>
            </a:extLst>
          </p:cNvPr>
          <p:cNvSpPr>
            <a:spLocks noGrp="1"/>
          </p:cNvSpPr>
          <p:nvPr>
            <p:ph type="title"/>
          </p:nvPr>
        </p:nvSpPr>
        <p:spPr>
          <a:xfrm>
            <a:off x="894303" y="122526"/>
            <a:ext cx="10199109" cy="1670809"/>
          </a:xfrm>
        </p:spPr>
        <p:txBody>
          <a:bodyPr>
            <a:normAutofit/>
          </a:bodyPr>
          <a:lstStyle/>
          <a:p>
            <a:r>
              <a:rPr lang="en-ZA" sz="3500" dirty="0"/>
              <a:t>Working Dataset: Canopy Shifts</a:t>
            </a:r>
          </a:p>
        </p:txBody>
      </p:sp>
      <p:sp>
        <p:nvSpPr>
          <p:cNvPr id="5" name="Slide Number Placeholder 4">
            <a:extLst>
              <a:ext uri="{FF2B5EF4-FFF2-40B4-BE49-F238E27FC236}">
                <a16:creationId xmlns:a16="http://schemas.microsoft.com/office/drawing/2014/main" id="{21102D11-8BFB-7A68-31FC-6C853BBC66E5}"/>
              </a:ext>
            </a:extLst>
          </p:cNvPr>
          <p:cNvSpPr>
            <a:spLocks noGrp="1"/>
          </p:cNvSpPr>
          <p:nvPr>
            <p:ph type="sldNum" sz="quarter" idx="15"/>
          </p:nvPr>
        </p:nvSpPr>
        <p:spPr/>
        <p:txBody>
          <a:bodyPr/>
          <a:lstStyle/>
          <a:p>
            <a:fld id="{18D65601-5AE2-46FC-B138-694DDD2B510D}" type="slidenum">
              <a:rPr lang="en-US" smtClean="0"/>
              <a:pPr/>
              <a:t>21</a:t>
            </a:fld>
            <a:endParaRPr lang="en-US" dirty="0"/>
          </a:p>
        </p:txBody>
      </p:sp>
      <p:pic>
        <p:nvPicPr>
          <p:cNvPr id="9" name="Picture 8" descr="A map of a city&#10;&#10;AI-generated content may be incorrect.">
            <a:extLst>
              <a:ext uri="{FF2B5EF4-FFF2-40B4-BE49-F238E27FC236}">
                <a16:creationId xmlns:a16="http://schemas.microsoft.com/office/drawing/2014/main" id="{479C5CD6-62F7-C0D9-9E5A-E43F4333CFEB}"/>
              </a:ext>
            </a:extLst>
          </p:cNvPr>
          <p:cNvPicPr>
            <a:picLocks noChangeAspect="1"/>
          </p:cNvPicPr>
          <p:nvPr/>
        </p:nvPicPr>
        <p:blipFill>
          <a:blip r:embed="rId2"/>
          <a:stretch>
            <a:fillRect/>
          </a:stretch>
        </p:blipFill>
        <p:spPr>
          <a:xfrm>
            <a:off x="7218630" y="93479"/>
            <a:ext cx="3874782" cy="2965316"/>
          </a:xfrm>
          <a:prstGeom prst="rect">
            <a:avLst/>
          </a:prstGeom>
        </p:spPr>
      </p:pic>
      <p:pic>
        <p:nvPicPr>
          <p:cNvPr id="11" name="Picture 10" descr="A map of a city&#10;&#10;AI-generated content may be incorrect.">
            <a:extLst>
              <a:ext uri="{FF2B5EF4-FFF2-40B4-BE49-F238E27FC236}">
                <a16:creationId xmlns:a16="http://schemas.microsoft.com/office/drawing/2014/main" id="{D873D68B-5063-149F-00EC-9C7B9518167B}"/>
              </a:ext>
            </a:extLst>
          </p:cNvPr>
          <p:cNvPicPr>
            <a:picLocks noChangeAspect="1"/>
          </p:cNvPicPr>
          <p:nvPr/>
        </p:nvPicPr>
        <p:blipFill>
          <a:blip r:embed="rId3"/>
          <a:stretch>
            <a:fillRect/>
          </a:stretch>
        </p:blipFill>
        <p:spPr>
          <a:xfrm>
            <a:off x="8427341" y="2673442"/>
            <a:ext cx="3714449" cy="2965316"/>
          </a:xfrm>
          <a:prstGeom prst="rect">
            <a:avLst/>
          </a:prstGeom>
        </p:spPr>
      </p:pic>
      <p:pic>
        <p:nvPicPr>
          <p:cNvPr id="13" name="Picture 12" descr="A map of a city&#10;&#10;AI-generated content may be incorrect.">
            <a:extLst>
              <a:ext uri="{FF2B5EF4-FFF2-40B4-BE49-F238E27FC236}">
                <a16:creationId xmlns:a16="http://schemas.microsoft.com/office/drawing/2014/main" id="{4B0A01CA-21DA-FDA4-43A2-638978202063}"/>
              </a:ext>
            </a:extLst>
          </p:cNvPr>
          <p:cNvPicPr>
            <a:picLocks noChangeAspect="1"/>
          </p:cNvPicPr>
          <p:nvPr/>
        </p:nvPicPr>
        <p:blipFill>
          <a:blip r:embed="rId4"/>
          <a:stretch>
            <a:fillRect/>
          </a:stretch>
        </p:blipFill>
        <p:spPr>
          <a:xfrm>
            <a:off x="4273115" y="3235738"/>
            <a:ext cx="4024779" cy="3341932"/>
          </a:xfrm>
          <a:prstGeom prst="rect">
            <a:avLst/>
          </a:prstGeom>
        </p:spPr>
      </p:pic>
      <p:pic>
        <p:nvPicPr>
          <p:cNvPr id="15" name="Picture 14" descr="A close up of words&#10;&#10;AI-generated content may be incorrect.">
            <a:extLst>
              <a:ext uri="{FF2B5EF4-FFF2-40B4-BE49-F238E27FC236}">
                <a16:creationId xmlns:a16="http://schemas.microsoft.com/office/drawing/2014/main" id="{2FF32EFC-45D9-0080-46A1-12898B63D5F0}"/>
              </a:ext>
            </a:extLst>
          </p:cNvPr>
          <p:cNvPicPr>
            <a:picLocks noChangeAspect="1"/>
          </p:cNvPicPr>
          <p:nvPr/>
        </p:nvPicPr>
        <p:blipFill>
          <a:blip r:embed="rId5"/>
          <a:stretch>
            <a:fillRect/>
          </a:stretch>
        </p:blipFill>
        <p:spPr>
          <a:xfrm>
            <a:off x="8427340" y="5943601"/>
            <a:ext cx="3714449" cy="546494"/>
          </a:xfrm>
          <a:prstGeom prst="rect">
            <a:avLst/>
          </a:prstGeom>
        </p:spPr>
      </p:pic>
      <p:sp>
        <p:nvSpPr>
          <p:cNvPr id="17" name="Content Placeholder 3">
            <a:extLst>
              <a:ext uri="{FF2B5EF4-FFF2-40B4-BE49-F238E27FC236}">
                <a16:creationId xmlns:a16="http://schemas.microsoft.com/office/drawing/2014/main" id="{1727A321-C5DC-811B-CF6B-5089106ABE9C}"/>
              </a:ext>
            </a:extLst>
          </p:cNvPr>
          <p:cNvSpPr>
            <a:spLocks noGrp="1"/>
          </p:cNvSpPr>
          <p:nvPr>
            <p:ph sz="quarter" idx="12"/>
          </p:nvPr>
        </p:nvSpPr>
        <p:spPr>
          <a:xfrm>
            <a:off x="1002108" y="1576137"/>
            <a:ext cx="3141560" cy="4500198"/>
          </a:xfrm>
        </p:spPr>
        <p:txBody>
          <a:bodyPr>
            <a:normAutofit/>
          </a:bodyPr>
          <a:lstStyle/>
          <a:p>
            <a:pPr marL="342900" indent="-342900">
              <a:buFont typeface="Arial" panose="020B0604020202020204" pitchFamily="34" charset="0"/>
              <a:buChar char="•"/>
            </a:pPr>
            <a:r>
              <a:rPr lang="en-US" dirty="0"/>
              <a:t>Most areas show no change in tree canopy coverage between 2010 and 2017.</a:t>
            </a:r>
          </a:p>
          <a:p>
            <a:pPr marL="342900" indent="-342900">
              <a:buFont typeface="Arial" panose="020B0604020202020204" pitchFamily="34" charset="0"/>
              <a:buChar char="•"/>
            </a:pPr>
            <a:r>
              <a:rPr lang="en-US" dirty="0"/>
              <a:t>Canopy gain and loss occur less frequently, limiting variation for analysis</a:t>
            </a:r>
          </a:p>
        </p:txBody>
      </p:sp>
    </p:spTree>
    <p:extLst>
      <p:ext uri="{BB962C8B-B14F-4D97-AF65-F5344CB8AC3E}">
        <p14:creationId xmlns:p14="http://schemas.microsoft.com/office/powerpoint/2010/main" val="37708673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04DE8-82C5-E074-614C-F7EB6A88F68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02A68B0-56DE-10E5-0C55-AAABDC7E9B40}"/>
              </a:ext>
            </a:extLst>
          </p:cNvPr>
          <p:cNvSpPr>
            <a:spLocks noGrp="1"/>
          </p:cNvSpPr>
          <p:nvPr>
            <p:ph type="title"/>
          </p:nvPr>
        </p:nvSpPr>
        <p:spPr>
          <a:xfrm>
            <a:off x="1082494" y="262487"/>
            <a:ext cx="11025770" cy="1427585"/>
          </a:xfrm>
        </p:spPr>
        <p:txBody>
          <a:bodyPr/>
          <a:lstStyle/>
          <a:p>
            <a:r>
              <a:rPr lang="en-ZA" dirty="0"/>
              <a:t>Working Dataset: Building Count by Canopy Change</a:t>
            </a:r>
          </a:p>
        </p:txBody>
      </p:sp>
      <p:sp>
        <p:nvSpPr>
          <p:cNvPr id="5" name="Slide Number Placeholder 4">
            <a:extLst>
              <a:ext uri="{FF2B5EF4-FFF2-40B4-BE49-F238E27FC236}">
                <a16:creationId xmlns:a16="http://schemas.microsoft.com/office/drawing/2014/main" id="{9C0DD44C-24E0-60EE-5802-FDC6A5B16CFF}"/>
              </a:ext>
            </a:extLst>
          </p:cNvPr>
          <p:cNvSpPr>
            <a:spLocks noGrp="1"/>
          </p:cNvSpPr>
          <p:nvPr>
            <p:ph type="sldNum" sz="quarter" idx="15"/>
          </p:nvPr>
        </p:nvSpPr>
        <p:spPr/>
        <p:txBody>
          <a:bodyPr/>
          <a:lstStyle/>
          <a:p>
            <a:fld id="{18D65601-5AE2-46FC-B138-694DDD2B510D}" type="slidenum">
              <a:rPr lang="en-US" smtClean="0"/>
              <a:pPr/>
              <a:t>22</a:t>
            </a:fld>
            <a:endParaRPr lang="en-US" dirty="0"/>
          </a:p>
        </p:txBody>
      </p:sp>
      <p:pic>
        <p:nvPicPr>
          <p:cNvPr id="2" name="Picture 1">
            <a:extLst>
              <a:ext uri="{FF2B5EF4-FFF2-40B4-BE49-F238E27FC236}">
                <a16:creationId xmlns:a16="http://schemas.microsoft.com/office/drawing/2014/main" id="{126C5125-AA13-E40A-0F0E-E00B985C3E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26473" y="1576136"/>
            <a:ext cx="6677565" cy="4121440"/>
          </a:xfrm>
          <a:prstGeom prst="rect">
            <a:avLst/>
          </a:prstGeom>
          <a:noFill/>
          <a:ln>
            <a:noFill/>
          </a:ln>
        </p:spPr>
      </p:pic>
      <p:sp>
        <p:nvSpPr>
          <p:cNvPr id="7" name="Content Placeholder 3">
            <a:extLst>
              <a:ext uri="{FF2B5EF4-FFF2-40B4-BE49-F238E27FC236}">
                <a16:creationId xmlns:a16="http://schemas.microsoft.com/office/drawing/2014/main" id="{E1147875-4F65-5C2D-FF67-8B63B5960C62}"/>
              </a:ext>
            </a:extLst>
          </p:cNvPr>
          <p:cNvSpPr>
            <a:spLocks noGrp="1"/>
          </p:cNvSpPr>
          <p:nvPr>
            <p:ph sz="quarter" idx="12"/>
          </p:nvPr>
        </p:nvSpPr>
        <p:spPr>
          <a:xfrm>
            <a:off x="1082494" y="1868129"/>
            <a:ext cx="3863109" cy="4401428"/>
          </a:xfrm>
        </p:spPr>
        <p:txBody>
          <a:bodyPr>
            <a:normAutofit/>
          </a:bodyPr>
          <a:lstStyle/>
          <a:p>
            <a:pPr marL="342900" indent="-342900">
              <a:buFont typeface="Arial" panose="020B0604020202020204" pitchFamily="34" charset="0"/>
              <a:buChar char="•"/>
            </a:pPr>
            <a:r>
              <a:rPr lang="en-US" dirty="0"/>
              <a:t>The majority of buildings fall into the “No Change” canopy category.</a:t>
            </a:r>
          </a:p>
          <a:p>
            <a:pPr marL="342900" indent="-342900">
              <a:buFont typeface="Arial" panose="020B0604020202020204" pitchFamily="34" charset="0"/>
              <a:buChar char="•"/>
            </a:pPr>
            <a:r>
              <a:rPr lang="en-US" dirty="0"/>
              <a:t>Buildings experiencing canopy gain or loss are far fewer in number.</a:t>
            </a:r>
          </a:p>
          <a:p>
            <a:pPr marL="342900" indent="-342900">
              <a:buFont typeface="Arial" panose="020B0604020202020204" pitchFamily="34" charset="0"/>
              <a:buChar char="•"/>
            </a:pPr>
            <a:r>
              <a:rPr lang="en-US" dirty="0"/>
              <a:t>The Loss category contains the smallest number of buildings.</a:t>
            </a:r>
          </a:p>
        </p:txBody>
      </p:sp>
    </p:spTree>
    <p:extLst>
      <p:ext uri="{BB962C8B-B14F-4D97-AF65-F5344CB8AC3E}">
        <p14:creationId xmlns:p14="http://schemas.microsoft.com/office/powerpoint/2010/main" val="29781821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B748E-E97E-0423-97D3-ED3FA76FECC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1678589-3DB0-1007-B69A-D8EB8BBC17D2}"/>
              </a:ext>
            </a:extLst>
          </p:cNvPr>
          <p:cNvSpPr>
            <a:spLocks noGrp="1"/>
          </p:cNvSpPr>
          <p:nvPr>
            <p:ph type="title"/>
          </p:nvPr>
        </p:nvSpPr>
        <p:spPr>
          <a:xfrm>
            <a:off x="1082495" y="262487"/>
            <a:ext cx="10107398" cy="1427585"/>
          </a:xfrm>
        </p:spPr>
        <p:txBody>
          <a:bodyPr/>
          <a:lstStyle/>
          <a:p>
            <a:r>
              <a:rPr lang="en-ZA" dirty="0"/>
              <a:t>Working Dataset: Building Counts by Year Built</a:t>
            </a:r>
          </a:p>
        </p:txBody>
      </p:sp>
      <p:sp>
        <p:nvSpPr>
          <p:cNvPr id="5" name="Slide Number Placeholder 4">
            <a:extLst>
              <a:ext uri="{FF2B5EF4-FFF2-40B4-BE49-F238E27FC236}">
                <a16:creationId xmlns:a16="http://schemas.microsoft.com/office/drawing/2014/main" id="{8B53A2E5-3D68-4463-E722-F795FEF4E3A7}"/>
              </a:ext>
            </a:extLst>
          </p:cNvPr>
          <p:cNvSpPr>
            <a:spLocks noGrp="1"/>
          </p:cNvSpPr>
          <p:nvPr>
            <p:ph type="sldNum" sz="quarter" idx="15"/>
          </p:nvPr>
        </p:nvSpPr>
        <p:spPr/>
        <p:txBody>
          <a:bodyPr/>
          <a:lstStyle/>
          <a:p>
            <a:fld id="{18D65601-5AE2-46FC-B138-694DDD2B510D}" type="slidenum">
              <a:rPr lang="en-US" smtClean="0"/>
              <a:pPr/>
              <a:t>23</a:t>
            </a:fld>
            <a:endParaRPr lang="en-US" dirty="0"/>
          </a:p>
        </p:txBody>
      </p:sp>
      <p:sp>
        <p:nvSpPr>
          <p:cNvPr id="7" name="Content Placeholder 3">
            <a:extLst>
              <a:ext uri="{FF2B5EF4-FFF2-40B4-BE49-F238E27FC236}">
                <a16:creationId xmlns:a16="http://schemas.microsoft.com/office/drawing/2014/main" id="{D308B281-4001-3FD7-DE73-AC9488B34036}"/>
              </a:ext>
            </a:extLst>
          </p:cNvPr>
          <p:cNvSpPr>
            <a:spLocks noGrp="1"/>
          </p:cNvSpPr>
          <p:nvPr>
            <p:ph sz="quarter" idx="12"/>
          </p:nvPr>
        </p:nvSpPr>
        <p:spPr>
          <a:xfrm>
            <a:off x="1082494" y="1324314"/>
            <a:ext cx="3863109" cy="4945243"/>
          </a:xfrm>
        </p:spPr>
        <p:txBody>
          <a:bodyPr>
            <a:normAutofit/>
          </a:bodyPr>
          <a:lstStyle/>
          <a:p>
            <a:pPr marL="342900" indent="-342900">
              <a:buFont typeface="Arial" panose="020B0604020202020204" pitchFamily="34" charset="0"/>
              <a:buChar char="•"/>
            </a:pPr>
            <a:r>
              <a:rPr lang="en-US" dirty="0"/>
              <a:t>Most buildings in the dataset were constructed before 1950.</a:t>
            </a:r>
          </a:p>
          <a:p>
            <a:pPr marL="342900" indent="-342900">
              <a:buFont typeface="Arial" panose="020B0604020202020204" pitchFamily="34" charset="0"/>
              <a:buChar char="•"/>
            </a:pPr>
            <a:r>
              <a:rPr lang="en-US" dirty="0"/>
              <a:t>Fewer buildings fall into the 1950–1980 and post-1980 categories.</a:t>
            </a:r>
          </a:p>
          <a:p>
            <a:pPr marL="342900" indent="-342900">
              <a:buFont typeface="Arial" panose="020B0604020202020204" pitchFamily="34" charset="0"/>
              <a:buChar char="•"/>
            </a:pPr>
            <a:r>
              <a:rPr lang="en-US" dirty="0"/>
              <a:t>Canopy change categories are most prevalent among older buildings.</a:t>
            </a:r>
          </a:p>
          <a:p>
            <a:pPr marL="342900" indent="-342900">
              <a:buFont typeface="Arial" panose="020B0604020202020204" pitchFamily="34" charset="0"/>
              <a:buChar char="•"/>
            </a:pPr>
            <a:r>
              <a:rPr lang="en-US" dirty="0"/>
              <a:t>Building age is an important characteristic to control for in analysis</a:t>
            </a:r>
          </a:p>
        </p:txBody>
      </p:sp>
      <p:pic>
        <p:nvPicPr>
          <p:cNvPr id="4" name="Picture 3">
            <a:extLst>
              <a:ext uri="{FF2B5EF4-FFF2-40B4-BE49-F238E27FC236}">
                <a16:creationId xmlns:a16="http://schemas.microsoft.com/office/drawing/2014/main" id="{221648E8-C903-0182-A645-959C1AC34DF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45603" y="1448525"/>
            <a:ext cx="6899442" cy="4258938"/>
          </a:xfrm>
          <a:prstGeom prst="rect">
            <a:avLst/>
          </a:prstGeom>
          <a:noFill/>
          <a:ln>
            <a:noFill/>
          </a:ln>
        </p:spPr>
      </p:pic>
    </p:spTree>
    <p:extLst>
      <p:ext uri="{BB962C8B-B14F-4D97-AF65-F5344CB8AC3E}">
        <p14:creationId xmlns:p14="http://schemas.microsoft.com/office/powerpoint/2010/main" val="32172123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431DD-7D0C-5FE2-D4D8-FE3E5C885FD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0E3E17-15C1-67A7-F6DC-3518F1B42FCD}"/>
              </a:ext>
            </a:extLst>
          </p:cNvPr>
          <p:cNvSpPr>
            <a:spLocks noGrp="1"/>
          </p:cNvSpPr>
          <p:nvPr>
            <p:ph type="title"/>
          </p:nvPr>
        </p:nvSpPr>
        <p:spPr>
          <a:xfrm>
            <a:off x="1195755" y="262487"/>
            <a:ext cx="9994138" cy="1427585"/>
          </a:xfrm>
        </p:spPr>
        <p:txBody>
          <a:bodyPr/>
          <a:lstStyle/>
          <a:p>
            <a:r>
              <a:rPr lang="en-ZA" dirty="0"/>
              <a:t>Working Dataset: Building Classification Counts</a:t>
            </a:r>
          </a:p>
        </p:txBody>
      </p:sp>
      <p:sp>
        <p:nvSpPr>
          <p:cNvPr id="5" name="Slide Number Placeholder 4">
            <a:extLst>
              <a:ext uri="{FF2B5EF4-FFF2-40B4-BE49-F238E27FC236}">
                <a16:creationId xmlns:a16="http://schemas.microsoft.com/office/drawing/2014/main" id="{A66707C7-4481-B4D0-187A-60FF059466AD}"/>
              </a:ext>
            </a:extLst>
          </p:cNvPr>
          <p:cNvSpPr>
            <a:spLocks noGrp="1"/>
          </p:cNvSpPr>
          <p:nvPr>
            <p:ph type="sldNum" sz="quarter" idx="15"/>
          </p:nvPr>
        </p:nvSpPr>
        <p:spPr/>
        <p:txBody>
          <a:bodyPr/>
          <a:lstStyle/>
          <a:p>
            <a:fld id="{18D65601-5AE2-46FC-B138-694DDD2B510D}" type="slidenum">
              <a:rPr lang="en-US" smtClean="0"/>
              <a:pPr/>
              <a:t>24</a:t>
            </a:fld>
            <a:endParaRPr lang="en-US" dirty="0"/>
          </a:p>
        </p:txBody>
      </p:sp>
      <p:sp>
        <p:nvSpPr>
          <p:cNvPr id="7" name="Content Placeholder 3">
            <a:extLst>
              <a:ext uri="{FF2B5EF4-FFF2-40B4-BE49-F238E27FC236}">
                <a16:creationId xmlns:a16="http://schemas.microsoft.com/office/drawing/2014/main" id="{4AAE0308-9DB8-736C-E5FF-3C2AEEFCF770}"/>
              </a:ext>
            </a:extLst>
          </p:cNvPr>
          <p:cNvSpPr>
            <a:spLocks noGrp="1"/>
          </p:cNvSpPr>
          <p:nvPr>
            <p:ph sz="quarter" idx="12"/>
          </p:nvPr>
        </p:nvSpPr>
        <p:spPr>
          <a:xfrm>
            <a:off x="1082494" y="1324314"/>
            <a:ext cx="3863109" cy="4945243"/>
          </a:xfrm>
        </p:spPr>
        <p:txBody>
          <a:bodyPr>
            <a:normAutofit/>
          </a:bodyPr>
          <a:lstStyle/>
          <a:p>
            <a:pPr marL="342900" indent="-342900">
              <a:buFont typeface="Arial" panose="020B0604020202020204" pitchFamily="34" charset="0"/>
              <a:buChar char="•"/>
            </a:pPr>
            <a:r>
              <a:rPr lang="en-US" dirty="0"/>
              <a:t>The dataset is dominated by elevator apartment buildings.</a:t>
            </a:r>
          </a:p>
          <a:p>
            <a:pPr marL="342900" indent="-342900">
              <a:buFont typeface="Arial" panose="020B0604020202020204" pitchFamily="34" charset="0"/>
              <a:buChar char="•"/>
            </a:pPr>
            <a:r>
              <a:rPr lang="en-US" dirty="0"/>
              <a:t>The most common classifications are D1, D4, and D7.</a:t>
            </a:r>
          </a:p>
          <a:p>
            <a:pPr marL="342900" indent="-342900">
              <a:buFont typeface="Arial" panose="020B0604020202020204" pitchFamily="34" charset="0"/>
              <a:buChar char="•"/>
            </a:pPr>
            <a:r>
              <a:rPr lang="en-US" dirty="0"/>
              <a:t>Many buildings include elevators and, in some cases, ground-floor commercial space.</a:t>
            </a:r>
          </a:p>
          <a:p>
            <a:pPr marL="342900" indent="-342900">
              <a:buFont typeface="Arial" panose="020B0604020202020204" pitchFamily="34" charset="0"/>
              <a:buChar char="•"/>
            </a:pPr>
            <a:r>
              <a:rPr lang="en-US" dirty="0"/>
              <a:t>This reflects the multifamily residential focus of Local Law 84 reporting.</a:t>
            </a:r>
          </a:p>
        </p:txBody>
      </p:sp>
      <p:pic>
        <p:nvPicPr>
          <p:cNvPr id="2" name="Picture 1">
            <a:extLst>
              <a:ext uri="{FF2B5EF4-FFF2-40B4-BE49-F238E27FC236}">
                <a16:creationId xmlns:a16="http://schemas.microsoft.com/office/drawing/2014/main" id="{613EE06F-D9E9-7F31-1132-4461D2C3218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04716" y="1324313"/>
            <a:ext cx="5966046" cy="4945243"/>
          </a:xfrm>
          <a:prstGeom prst="rect">
            <a:avLst/>
          </a:prstGeom>
          <a:noFill/>
          <a:ln>
            <a:noFill/>
          </a:ln>
        </p:spPr>
      </p:pic>
    </p:spTree>
    <p:extLst>
      <p:ext uri="{BB962C8B-B14F-4D97-AF65-F5344CB8AC3E}">
        <p14:creationId xmlns:p14="http://schemas.microsoft.com/office/powerpoint/2010/main" val="2935677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5A6C5-E253-08E2-4741-748FC00B187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0418694-E8F6-E2F9-43EA-0B937A94A910}"/>
              </a:ext>
            </a:extLst>
          </p:cNvPr>
          <p:cNvSpPr>
            <a:spLocks noGrp="1"/>
          </p:cNvSpPr>
          <p:nvPr>
            <p:ph type="title"/>
          </p:nvPr>
        </p:nvSpPr>
        <p:spPr>
          <a:xfrm>
            <a:off x="896627" y="200606"/>
            <a:ext cx="4162237" cy="1728678"/>
          </a:xfrm>
        </p:spPr>
        <p:txBody>
          <a:bodyPr>
            <a:normAutofit/>
          </a:bodyPr>
          <a:lstStyle/>
          <a:p>
            <a:r>
              <a:rPr lang="en-ZA" dirty="0"/>
              <a:t>Working Dataset: Pair Plot Numeric Features</a:t>
            </a:r>
          </a:p>
        </p:txBody>
      </p:sp>
      <p:sp>
        <p:nvSpPr>
          <p:cNvPr id="5" name="Slide Number Placeholder 4">
            <a:extLst>
              <a:ext uri="{FF2B5EF4-FFF2-40B4-BE49-F238E27FC236}">
                <a16:creationId xmlns:a16="http://schemas.microsoft.com/office/drawing/2014/main" id="{0DF1F1AB-F18A-B0B0-8AD7-6F6FBB0ADFC8}"/>
              </a:ext>
            </a:extLst>
          </p:cNvPr>
          <p:cNvSpPr>
            <a:spLocks noGrp="1"/>
          </p:cNvSpPr>
          <p:nvPr>
            <p:ph type="sldNum" sz="quarter" idx="15"/>
          </p:nvPr>
        </p:nvSpPr>
        <p:spPr/>
        <p:txBody>
          <a:bodyPr/>
          <a:lstStyle/>
          <a:p>
            <a:fld id="{18D65601-5AE2-46FC-B138-694DDD2B510D}" type="slidenum">
              <a:rPr lang="en-US" smtClean="0"/>
              <a:pPr/>
              <a:t>25</a:t>
            </a:fld>
            <a:endParaRPr lang="en-US" dirty="0"/>
          </a:p>
        </p:txBody>
      </p:sp>
      <p:sp>
        <p:nvSpPr>
          <p:cNvPr id="7" name="Content Placeholder 3">
            <a:extLst>
              <a:ext uri="{FF2B5EF4-FFF2-40B4-BE49-F238E27FC236}">
                <a16:creationId xmlns:a16="http://schemas.microsoft.com/office/drawing/2014/main" id="{391916A6-6F58-6D35-4A77-3DCCCA2F6981}"/>
              </a:ext>
            </a:extLst>
          </p:cNvPr>
          <p:cNvSpPr>
            <a:spLocks noGrp="1"/>
          </p:cNvSpPr>
          <p:nvPr>
            <p:ph sz="quarter" idx="12"/>
          </p:nvPr>
        </p:nvSpPr>
        <p:spPr>
          <a:xfrm>
            <a:off x="1145512" y="1912758"/>
            <a:ext cx="3195376" cy="4744636"/>
          </a:xfrm>
        </p:spPr>
        <p:txBody>
          <a:bodyPr>
            <a:normAutofit fontScale="85000" lnSpcReduction="10000"/>
          </a:bodyPr>
          <a:lstStyle/>
          <a:p>
            <a:pPr marL="342900" indent="-342900">
              <a:buFont typeface="Arial" panose="020B0604020202020204" pitchFamily="34" charset="0"/>
              <a:buChar char="•"/>
            </a:pPr>
            <a:r>
              <a:rPr lang="en-US" dirty="0"/>
              <a:t>No strong visual relationship appears between weather-normalized EUI and tree count.</a:t>
            </a:r>
          </a:p>
          <a:p>
            <a:pPr marL="342900" indent="-342900">
              <a:buFont typeface="Arial" panose="020B0604020202020204" pitchFamily="34" charset="0"/>
              <a:buChar char="•"/>
            </a:pPr>
            <a:r>
              <a:rPr lang="en-US" dirty="0"/>
              <a:t>Energy use varies widely across buildings regardless of canopy change class.</a:t>
            </a:r>
          </a:p>
          <a:p>
            <a:pPr marL="342900" indent="-342900">
              <a:buFont typeface="Arial" panose="020B0604020202020204" pitchFamily="34" charset="0"/>
              <a:buChar char="•"/>
            </a:pPr>
            <a:r>
              <a:rPr lang="en-US" dirty="0"/>
              <a:t>Stronger structure is visible among building characteristics (e.g., height, floors, year built)</a:t>
            </a:r>
          </a:p>
          <a:p>
            <a:pPr marL="342900" indent="-342900">
              <a:buFont typeface="Arial" panose="020B0604020202020204" pitchFamily="34" charset="0"/>
              <a:buChar char="•"/>
            </a:pPr>
            <a:r>
              <a:rPr lang="en-US" dirty="0"/>
              <a:t>Visual inspection suggests limited linear relationship between tree presence and EUI</a:t>
            </a:r>
          </a:p>
        </p:txBody>
      </p:sp>
      <p:pic>
        <p:nvPicPr>
          <p:cNvPr id="4" name="Picture 3">
            <a:extLst>
              <a:ext uri="{FF2B5EF4-FFF2-40B4-BE49-F238E27FC236}">
                <a16:creationId xmlns:a16="http://schemas.microsoft.com/office/drawing/2014/main" id="{437B3AEF-E2F7-2113-2FF6-1638A744B50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1999" y="210438"/>
            <a:ext cx="7573395" cy="6582953"/>
          </a:xfrm>
          <a:prstGeom prst="rect">
            <a:avLst/>
          </a:prstGeom>
          <a:noFill/>
          <a:ln>
            <a:noFill/>
          </a:ln>
        </p:spPr>
      </p:pic>
    </p:spTree>
    <p:extLst>
      <p:ext uri="{BB962C8B-B14F-4D97-AF65-F5344CB8AC3E}">
        <p14:creationId xmlns:p14="http://schemas.microsoft.com/office/powerpoint/2010/main" val="34980940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C5A81-467D-6631-0547-D2D176B53CEC}"/>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15BC0E0-E549-B8BC-57D1-EBAC9C4E81CD}"/>
              </a:ext>
            </a:extLst>
          </p:cNvPr>
          <p:cNvSpPr>
            <a:spLocks noGrp="1"/>
          </p:cNvSpPr>
          <p:nvPr>
            <p:ph type="sldNum" sz="quarter" idx="15"/>
          </p:nvPr>
        </p:nvSpPr>
        <p:spPr/>
        <p:txBody>
          <a:bodyPr/>
          <a:lstStyle/>
          <a:p>
            <a:fld id="{18D65601-5AE2-46FC-B138-694DDD2B510D}" type="slidenum">
              <a:rPr lang="en-US" smtClean="0"/>
              <a:pPr/>
              <a:t>26</a:t>
            </a:fld>
            <a:endParaRPr lang="en-US" dirty="0"/>
          </a:p>
        </p:txBody>
      </p:sp>
      <p:sp>
        <p:nvSpPr>
          <p:cNvPr id="7" name="Content Placeholder 3">
            <a:extLst>
              <a:ext uri="{FF2B5EF4-FFF2-40B4-BE49-F238E27FC236}">
                <a16:creationId xmlns:a16="http://schemas.microsoft.com/office/drawing/2014/main" id="{60D4E8D2-61DA-4F82-55BF-A7B1A4DD2C9E}"/>
              </a:ext>
            </a:extLst>
          </p:cNvPr>
          <p:cNvSpPr>
            <a:spLocks noGrp="1"/>
          </p:cNvSpPr>
          <p:nvPr>
            <p:ph sz="quarter" idx="12"/>
          </p:nvPr>
        </p:nvSpPr>
        <p:spPr>
          <a:xfrm>
            <a:off x="896627" y="1929284"/>
            <a:ext cx="3863109" cy="3878049"/>
          </a:xfrm>
        </p:spPr>
        <p:txBody>
          <a:bodyPr>
            <a:normAutofit fontScale="77500" lnSpcReduction="20000"/>
          </a:bodyPr>
          <a:lstStyle/>
          <a:p>
            <a:pPr marL="342900" indent="-342900">
              <a:buFont typeface="Arial" panose="020B0604020202020204" pitchFamily="34" charset="0"/>
              <a:buChar char="•"/>
            </a:pPr>
            <a:r>
              <a:rPr lang="en-US" dirty="0"/>
              <a:t>Weather normalized EUI shows weak correlations with all numeric features.</a:t>
            </a:r>
          </a:p>
          <a:p>
            <a:pPr marL="342900" indent="-342900">
              <a:buFont typeface="Arial" panose="020B0604020202020204" pitchFamily="34" charset="0"/>
              <a:buChar char="•"/>
            </a:pPr>
            <a:r>
              <a:rPr lang="en-US" dirty="0"/>
              <a:t>Tree count has near-zero correlation with EUI.</a:t>
            </a:r>
          </a:p>
          <a:p>
            <a:pPr marL="342900" indent="-342900">
              <a:buFont typeface="Arial" panose="020B0604020202020204" pitchFamily="34" charset="0"/>
              <a:buChar char="•"/>
            </a:pPr>
            <a:r>
              <a:rPr lang="en-US" dirty="0"/>
              <a:t>Stronger correlations appear among building attributes, such as:</a:t>
            </a:r>
          </a:p>
          <a:p>
            <a:pPr marL="571500" lvl="1" indent="-342900"/>
            <a:r>
              <a:rPr lang="en-US" dirty="0"/>
              <a:t>Number of floors and roof height</a:t>
            </a:r>
          </a:p>
          <a:p>
            <a:pPr marL="571500" lvl="1" indent="-342900"/>
            <a:r>
              <a:rPr lang="en-US" dirty="0"/>
              <a:t>Building age and size-related features</a:t>
            </a:r>
          </a:p>
          <a:p>
            <a:pPr marL="342900" indent="-342900">
              <a:buFont typeface="Arial" panose="020B0604020202020204" pitchFamily="34" charset="0"/>
              <a:buChar char="•"/>
            </a:pPr>
            <a:r>
              <a:rPr lang="en-US" dirty="0"/>
              <a:t>These weak correlations indicate limited explanatory power for simple linear models</a:t>
            </a:r>
          </a:p>
        </p:txBody>
      </p:sp>
      <p:sp>
        <p:nvSpPr>
          <p:cNvPr id="8" name="Title 2">
            <a:extLst>
              <a:ext uri="{FF2B5EF4-FFF2-40B4-BE49-F238E27FC236}">
                <a16:creationId xmlns:a16="http://schemas.microsoft.com/office/drawing/2014/main" id="{A342B06A-EA4C-58D9-205A-60A3CB6CD318}"/>
              </a:ext>
            </a:extLst>
          </p:cNvPr>
          <p:cNvSpPr txBox="1">
            <a:spLocks/>
          </p:cNvSpPr>
          <p:nvPr/>
        </p:nvSpPr>
        <p:spPr>
          <a:xfrm>
            <a:off x="896627" y="200606"/>
            <a:ext cx="4162237" cy="1728678"/>
          </a:xfrm>
          <a:prstGeom prst="rect">
            <a:avLst/>
          </a:prstGeom>
        </p:spPr>
        <p:txBody>
          <a:bodyPr vert="horz" lIns="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ZA" dirty="0"/>
              <a:t>Working Dataset: Correlation Matrix</a:t>
            </a:r>
          </a:p>
        </p:txBody>
      </p:sp>
      <p:pic>
        <p:nvPicPr>
          <p:cNvPr id="9" name="Picture 8">
            <a:extLst>
              <a:ext uri="{FF2B5EF4-FFF2-40B4-BE49-F238E27FC236}">
                <a16:creationId xmlns:a16="http://schemas.microsoft.com/office/drawing/2014/main" id="{DFFA5405-7D2C-2230-3C15-C14097AB94C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59736" y="694163"/>
            <a:ext cx="7045988" cy="5469674"/>
          </a:xfrm>
          <a:prstGeom prst="rect">
            <a:avLst/>
          </a:prstGeom>
          <a:noFill/>
          <a:ln>
            <a:noFill/>
          </a:ln>
        </p:spPr>
      </p:pic>
    </p:spTree>
    <p:extLst>
      <p:ext uri="{BB962C8B-B14F-4D97-AF65-F5344CB8AC3E}">
        <p14:creationId xmlns:p14="http://schemas.microsoft.com/office/powerpoint/2010/main" val="19026297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E4B1A-2243-8ED0-4741-1AC076C4B1C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29E1162-32AA-D51B-B739-1916835E122D}"/>
              </a:ext>
            </a:extLst>
          </p:cNvPr>
          <p:cNvSpPr>
            <a:spLocks noGrp="1"/>
          </p:cNvSpPr>
          <p:nvPr>
            <p:ph type="title"/>
          </p:nvPr>
        </p:nvSpPr>
        <p:spPr>
          <a:xfrm>
            <a:off x="1115368" y="71568"/>
            <a:ext cx="9994138" cy="1427585"/>
          </a:xfrm>
        </p:spPr>
        <p:txBody>
          <a:bodyPr/>
          <a:lstStyle/>
          <a:p>
            <a:r>
              <a:rPr lang="en-ZA" dirty="0"/>
              <a:t>Working Dataset: Box Plots (Tree Counts)</a:t>
            </a:r>
          </a:p>
        </p:txBody>
      </p:sp>
      <p:sp>
        <p:nvSpPr>
          <p:cNvPr id="5" name="Slide Number Placeholder 4">
            <a:extLst>
              <a:ext uri="{FF2B5EF4-FFF2-40B4-BE49-F238E27FC236}">
                <a16:creationId xmlns:a16="http://schemas.microsoft.com/office/drawing/2014/main" id="{0D9F6690-FD88-AD87-53FB-1A2BB452F5A0}"/>
              </a:ext>
            </a:extLst>
          </p:cNvPr>
          <p:cNvSpPr>
            <a:spLocks noGrp="1"/>
          </p:cNvSpPr>
          <p:nvPr>
            <p:ph type="sldNum" sz="quarter" idx="15"/>
          </p:nvPr>
        </p:nvSpPr>
        <p:spPr/>
        <p:txBody>
          <a:bodyPr/>
          <a:lstStyle/>
          <a:p>
            <a:fld id="{18D65601-5AE2-46FC-B138-694DDD2B510D}" type="slidenum">
              <a:rPr lang="en-US" smtClean="0"/>
              <a:pPr/>
              <a:t>27</a:t>
            </a:fld>
            <a:endParaRPr lang="en-US" dirty="0"/>
          </a:p>
        </p:txBody>
      </p:sp>
      <p:sp>
        <p:nvSpPr>
          <p:cNvPr id="7" name="Content Placeholder 3">
            <a:extLst>
              <a:ext uri="{FF2B5EF4-FFF2-40B4-BE49-F238E27FC236}">
                <a16:creationId xmlns:a16="http://schemas.microsoft.com/office/drawing/2014/main" id="{CA8654AE-F73C-D083-46F7-6D1D179F1D64}"/>
              </a:ext>
            </a:extLst>
          </p:cNvPr>
          <p:cNvSpPr>
            <a:spLocks noGrp="1"/>
          </p:cNvSpPr>
          <p:nvPr>
            <p:ph sz="quarter" idx="12"/>
          </p:nvPr>
        </p:nvSpPr>
        <p:spPr>
          <a:xfrm>
            <a:off x="1082494" y="1632155"/>
            <a:ext cx="3863109" cy="4637402"/>
          </a:xfrm>
        </p:spPr>
        <p:txBody>
          <a:bodyPr>
            <a:normAutofit/>
          </a:bodyPr>
          <a:lstStyle/>
          <a:p>
            <a:pPr marL="342900" indent="-342900">
              <a:buFont typeface="Arial" panose="020B0604020202020204" pitchFamily="34" charset="0"/>
              <a:buChar char="•"/>
            </a:pPr>
            <a:r>
              <a:rPr lang="en-US" dirty="0"/>
              <a:t>Buildings in the canopy gain category have a slightly higher median tree count.</a:t>
            </a:r>
          </a:p>
          <a:p>
            <a:pPr marL="342900" indent="-342900">
              <a:buFont typeface="Arial" panose="020B0604020202020204" pitchFamily="34" charset="0"/>
              <a:buChar char="•"/>
            </a:pPr>
            <a:r>
              <a:rPr lang="en-US" dirty="0"/>
              <a:t>The loss category shows the lowest median tree count.</a:t>
            </a:r>
          </a:p>
          <a:p>
            <a:pPr marL="342900" indent="-342900">
              <a:buFont typeface="Arial" panose="020B0604020202020204" pitchFamily="34" charset="0"/>
              <a:buChar char="•"/>
            </a:pPr>
            <a:r>
              <a:rPr lang="en-US" dirty="0"/>
              <a:t>The no change category exhibits the greatest variability and highest outliers.</a:t>
            </a:r>
          </a:p>
        </p:txBody>
      </p:sp>
      <p:pic>
        <p:nvPicPr>
          <p:cNvPr id="4" name="Picture 3">
            <a:extLst>
              <a:ext uri="{FF2B5EF4-FFF2-40B4-BE49-F238E27FC236}">
                <a16:creationId xmlns:a16="http://schemas.microsoft.com/office/drawing/2014/main" id="{F06B491A-C8B6-3A14-554A-EDF6A8ABA5C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45603" y="1324314"/>
            <a:ext cx="6885958" cy="4253529"/>
          </a:xfrm>
          <a:prstGeom prst="rect">
            <a:avLst/>
          </a:prstGeom>
          <a:noFill/>
          <a:ln>
            <a:noFill/>
          </a:ln>
        </p:spPr>
      </p:pic>
    </p:spTree>
    <p:extLst>
      <p:ext uri="{BB962C8B-B14F-4D97-AF65-F5344CB8AC3E}">
        <p14:creationId xmlns:p14="http://schemas.microsoft.com/office/powerpoint/2010/main" val="27881254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A10D7-8BE2-A0D5-61E6-F24B835F752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A041AA6-F700-0D00-92B2-B52E51CF1382}"/>
              </a:ext>
            </a:extLst>
          </p:cNvPr>
          <p:cNvSpPr>
            <a:spLocks noGrp="1"/>
          </p:cNvSpPr>
          <p:nvPr>
            <p:ph type="title"/>
          </p:nvPr>
        </p:nvSpPr>
        <p:spPr>
          <a:xfrm>
            <a:off x="1215419" y="193661"/>
            <a:ext cx="9994138" cy="1427585"/>
          </a:xfrm>
        </p:spPr>
        <p:txBody>
          <a:bodyPr/>
          <a:lstStyle/>
          <a:p>
            <a:r>
              <a:rPr lang="en-ZA" dirty="0"/>
              <a:t>Working Dataset: Box Plots (EUI)</a:t>
            </a:r>
          </a:p>
        </p:txBody>
      </p:sp>
      <p:sp>
        <p:nvSpPr>
          <p:cNvPr id="5" name="Slide Number Placeholder 4">
            <a:extLst>
              <a:ext uri="{FF2B5EF4-FFF2-40B4-BE49-F238E27FC236}">
                <a16:creationId xmlns:a16="http://schemas.microsoft.com/office/drawing/2014/main" id="{08E0FEEA-E3E5-39B2-5B5E-F67150E588BC}"/>
              </a:ext>
            </a:extLst>
          </p:cNvPr>
          <p:cNvSpPr>
            <a:spLocks noGrp="1"/>
          </p:cNvSpPr>
          <p:nvPr>
            <p:ph type="sldNum" sz="quarter" idx="15"/>
          </p:nvPr>
        </p:nvSpPr>
        <p:spPr/>
        <p:txBody>
          <a:bodyPr/>
          <a:lstStyle/>
          <a:p>
            <a:fld id="{18D65601-5AE2-46FC-B138-694DDD2B510D}" type="slidenum">
              <a:rPr lang="en-US" smtClean="0"/>
              <a:pPr/>
              <a:t>28</a:t>
            </a:fld>
            <a:endParaRPr lang="en-US" dirty="0"/>
          </a:p>
        </p:txBody>
      </p:sp>
      <p:sp>
        <p:nvSpPr>
          <p:cNvPr id="7" name="Content Placeholder 3">
            <a:extLst>
              <a:ext uri="{FF2B5EF4-FFF2-40B4-BE49-F238E27FC236}">
                <a16:creationId xmlns:a16="http://schemas.microsoft.com/office/drawing/2014/main" id="{A9D9BE7D-1F29-B1AA-C6AD-D6569F22B173}"/>
              </a:ext>
            </a:extLst>
          </p:cNvPr>
          <p:cNvSpPr>
            <a:spLocks noGrp="1"/>
          </p:cNvSpPr>
          <p:nvPr>
            <p:ph sz="quarter" idx="12"/>
          </p:nvPr>
        </p:nvSpPr>
        <p:spPr>
          <a:xfrm>
            <a:off x="1082494" y="1324314"/>
            <a:ext cx="3863109" cy="4945243"/>
          </a:xfrm>
        </p:spPr>
        <p:txBody>
          <a:bodyPr>
            <a:normAutofit/>
          </a:bodyPr>
          <a:lstStyle/>
          <a:p>
            <a:pPr marL="342900" indent="-342900">
              <a:buFont typeface="Arial" panose="020B0604020202020204" pitchFamily="34" charset="0"/>
              <a:buChar char="•"/>
            </a:pPr>
            <a:r>
              <a:rPr lang="en-US" dirty="0"/>
              <a:t>Median EUI values are similar across all canopy change categories.</a:t>
            </a:r>
          </a:p>
          <a:p>
            <a:pPr marL="342900" indent="-342900">
              <a:buFont typeface="Arial" panose="020B0604020202020204" pitchFamily="34" charset="0"/>
              <a:buChar char="•"/>
            </a:pPr>
            <a:r>
              <a:rPr lang="en-US" dirty="0"/>
              <a:t>Distributions overlap between groups.</a:t>
            </a:r>
          </a:p>
          <a:p>
            <a:pPr marL="342900" indent="-342900">
              <a:buFont typeface="Arial" panose="020B0604020202020204" pitchFamily="34" charset="0"/>
              <a:buChar char="•"/>
            </a:pPr>
            <a:r>
              <a:rPr lang="en-US" dirty="0"/>
              <a:t>No clear relationship appears between canopy class and energy use.</a:t>
            </a:r>
          </a:p>
          <a:p>
            <a:pPr marL="342900" indent="-342900">
              <a:buFont typeface="Arial" panose="020B0604020202020204" pitchFamily="34" charset="0"/>
              <a:buChar char="•"/>
            </a:pPr>
            <a:r>
              <a:rPr lang="en-US" dirty="0"/>
              <a:t>Visual evidence suggests canopy change alone does not explain EUI differences.</a:t>
            </a:r>
          </a:p>
        </p:txBody>
      </p:sp>
      <p:pic>
        <p:nvPicPr>
          <p:cNvPr id="2" name="Picture 1">
            <a:extLst>
              <a:ext uri="{FF2B5EF4-FFF2-40B4-BE49-F238E27FC236}">
                <a16:creationId xmlns:a16="http://schemas.microsoft.com/office/drawing/2014/main" id="{2F2BDEDF-F8BE-49CD-A706-8BAB96E8965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58864" y="1366321"/>
            <a:ext cx="6678179" cy="4125358"/>
          </a:xfrm>
          <a:prstGeom prst="rect">
            <a:avLst/>
          </a:prstGeom>
          <a:noFill/>
          <a:ln>
            <a:noFill/>
          </a:ln>
        </p:spPr>
      </p:pic>
    </p:spTree>
    <p:extLst>
      <p:ext uri="{BB962C8B-B14F-4D97-AF65-F5344CB8AC3E}">
        <p14:creationId xmlns:p14="http://schemas.microsoft.com/office/powerpoint/2010/main" val="38504106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263CD-5FC1-C982-F6CE-1D8889AAF30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E4767B4-BD51-2CAE-4056-BB23181BAA4D}"/>
              </a:ext>
            </a:extLst>
          </p:cNvPr>
          <p:cNvSpPr>
            <a:spLocks noGrp="1"/>
          </p:cNvSpPr>
          <p:nvPr>
            <p:ph type="title"/>
          </p:nvPr>
        </p:nvSpPr>
        <p:spPr>
          <a:xfrm>
            <a:off x="1195755" y="154332"/>
            <a:ext cx="9994138" cy="1427585"/>
          </a:xfrm>
        </p:spPr>
        <p:txBody>
          <a:bodyPr/>
          <a:lstStyle/>
          <a:p>
            <a:r>
              <a:rPr lang="en-ZA" dirty="0"/>
              <a:t>Working Dataset: Box Plots (Delta EUI)</a:t>
            </a:r>
          </a:p>
        </p:txBody>
      </p:sp>
      <p:sp>
        <p:nvSpPr>
          <p:cNvPr id="5" name="Slide Number Placeholder 4">
            <a:extLst>
              <a:ext uri="{FF2B5EF4-FFF2-40B4-BE49-F238E27FC236}">
                <a16:creationId xmlns:a16="http://schemas.microsoft.com/office/drawing/2014/main" id="{FD3C89D8-E416-E32C-7A9D-BE58E31DFAA7}"/>
              </a:ext>
            </a:extLst>
          </p:cNvPr>
          <p:cNvSpPr>
            <a:spLocks noGrp="1"/>
          </p:cNvSpPr>
          <p:nvPr>
            <p:ph type="sldNum" sz="quarter" idx="15"/>
          </p:nvPr>
        </p:nvSpPr>
        <p:spPr/>
        <p:txBody>
          <a:bodyPr/>
          <a:lstStyle/>
          <a:p>
            <a:fld id="{18D65601-5AE2-46FC-B138-694DDD2B510D}" type="slidenum">
              <a:rPr lang="en-US" smtClean="0"/>
              <a:pPr/>
              <a:t>29</a:t>
            </a:fld>
            <a:endParaRPr lang="en-US" dirty="0"/>
          </a:p>
        </p:txBody>
      </p:sp>
      <p:sp>
        <p:nvSpPr>
          <p:cNvPr id="7" name="Content Placeholder 3">
            <a:extLst>
              <a:ext uri="{FF2B5EF4-FFF2-40B4-BE49-F238E27FC236}">
                <a16:creationId xmlns:a16="http://schemas.microsoft.com/office/drawing/2014/main" id="{92B67C3C-367A-CF88-BF01-174CE7F3A37C}"/>
              </a:ext>
            </a:extLst>
          </p:cNvPr>
          <p:cNvSpPr>
            <a:spLocks noGrp="1"/>
          </p:cNvSpPr>
          <p:nvPr>
            <p:ph sz="quarter" idx="12"/>
          </p:nvPr>
        </p:nvSpPr>
        <p:spPr>
          <a:xfrm>
            <a:off x="1082494" y="1324314"/>
            <a:ext cx="3863109" cy="4945243"/>
          </a:xfrm>
        </p:spPr>
        <p:txBody>
          <a:bodyPr>
            <a:normAutofit/>
          </a:bodyPr>
          <a:lstStyle/>
          <a:p>
            <a:pPr marL="342900" indent="-342900">
              <a:buFont typeface="Arial" panose="020B0604020202020204" pitchFamily="34" charset="0"/>
              <a:buChar char="•"/>
            </a:pPr>
            <a:r>
              <a:rPr lang="en-US" dirty="0"/>
              <a:t>Variation in EUI change is large within each group.</a:t>
            </a:r>
          </a:p>
          <a:p>
            <a:pPr marL="342900" indent="-342900">
              <a:buFont typeface="Arial" panose="020B0604020202020204" pitchFamily="34" charset="0"/>
              <a:buChar char="•"/>
            </a:pPr>
            <a:r>
              <a:rPr lang="en-US" dirty="0"/>
              <a:t>No canopy category shows a distinct shift in energy use over time.</a:t>
            </a:r>
          </a:p>
          <a:p>
            <a:pPr marL="342900" indent="-342900">
              <a:buFont typeface="Arial" panose="020B0604020202020204" pitchFamily="34" charset="0"/>
              <a:buChar char="•"/>
            </a:pPr>
            <a:r>
              <a:rPr lang="en-US" dirty="0"/>
              <a:t>Temporal differencing does not reveal a clear canopy-related pattern.</a:t>
            </a:r>
          </a:p>
        </p:txBody>
      </p:sp>
      <p:pic>
        <p:nvPicPr>
          <p:cNvPr id="2" name="Picture 1">
            <a:extLst>
              <a:ext uri="{FF2B5EF4-FFF2-40B4-BE49-F238E27FC236}">
                <a16:creationId xmlns:a16="http://schemas.microsoft.com/office/drawing/2014/main" id="{04EAAAEC-9E4D-6BA6-050B-59FA9358943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44905" y="1476554"/>
            <a:ext cx="6321224" cy="3904892"/>
          </a:xfrm>
          <a:prstGeom prst="rect">
            <a:avLst/>
          </a:prstGeom>
          <a:noFill/>
          <a:ln>
            <a:noFill/>
          </a:ln>
        </p:spPr>
      </p:pic>
    </p:spTree>
    <p:extLst>
      <p:ext uri="{BB962C8B-B14F-4D97-AF65-F5344CB8AC3E}">
        <p14:creationId xmlns:p14="http://schemas.microsoft.com/office/powerpoint/2010/main" val="13708103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CCB4D-7793-B029-09B1-11A31F52FC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479C67-25E7-CDD3-21DF-D814B2F42C10}"/>
              </a:ext>
            </a:extLst>
          </p:cNvPr>
          <p:cNvSpPr>
            <a:spLocks noGrp="1"/>
          </p:cNvSpPr>
          <p:nvPr>
            <p:ph type="title"/>
          </p:nvPr>
        </p:nvSpPr>
        <p:spPr>
          <a:xfrm>
            <a:off x="1038030" y="1058336"/>
            <a:ext cx="10115939" cy="2681549"/>
          </a:xfrm>
        </p:spPr>
        <p:txBody>
          <a:bodyPr/>
          <a:lstStyle/>
          <a:p>
            <a:r>
              <a:rPr lang="en-US" dirty="0"/>
              <a:t>Modeling &amp; Analysis</a:t>
            </a:r>
            <a:endParaRPr lang="en-ZA" dirty="0"/>
          </a:p>
        </p:txBody>
      </p:sp>
    </p:spTree>
    <p:extLst>
      <p:ext uri="{BB962C8B-B14F-4D97-AF65-F5344CB8AC3E}">
        <p14:creationId xmlns:p14="http://schemas.microsoft.com/office/powerpoint/2010/main" val="22379656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196EA-F712-24A7-AD16-4835B443B63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C038C96-F6D1-0D24-6647-87BB4FBD0561}"/>
              </a:ext>
            </a:extLst>
          </p:cNvPr>
          <p:cNvSpPr>
            <a:spLocks noGrp="1"/>
          </p:cNvSpPr>
          <p:nvPr>
            <p:ph type="title"/>
          </p:nvPr>
        </p:nvSpPr>
        <p:spPr>
          <a:xfrm>
            <a:off x="1381119" y="336703"/>
            <a:ext cx="9808773" cy="1427585"/>
          </a:xfrm>
        </p:spPr>
        <p:txBody>
          <a:bodyPr/>
          <a:lstStyle/>
          <a:p>
            <a:r>
              <a:rPr lang="en-ZA" dirty="0" err="1"/>
              <a:t>Modeling</a:t>
            </a:r>
            <a:r>
              <a:rPr lang="en-ZA" dirty="0"/>
              <a:t> &amp; Analysis</a:t>
            </a:r>
          </a:p>
        </p:txBody>
      </p:sp>
      <p:sp>
        <p:nvSpPr>
          <p:cNvPr id="5" name="Slide Number Placeholder 4">
            <a:extLst>
              <a:ext uri="{FF2B5EF4-FFF2-40B4-BE49-F238E27FC236}">
                <a16:creationId xmlns:a16="http://schemas.microsoft.com/office/drawing/2014/main" id="{75805EF4-3378-A8C3-D7FF-8D6CC830B56E}"/>
              </a:ext>
            </a:extLst>
          </p:cNvPr>
          <p:cNvSpPr>
            <a:spLocks noGrp="1"/>
          </p:cNvSpPr>
          <p:nvPr>
            <p:ph type="sldNum" sz="quarter" idx="15"/>
          </p:nvPr>
        </p:nvSpPr>
        <p:spPr/>
        <p:txBody>
          <a:bodyPr/>
          <a:lstStyle/>
          <a:p>
            <a:fld id="{18D65601-5AE2-46FC-B138-694DDD2B510D}" type="slidenum">
              <a:rPr lang="en-US" smtClean="0"/>
              <a:pPr/>
              <a:t>31</a:t>
            </a:fld>
            <a:endParaRPr lang="en-US" dirty="0"/>
          </a:p>
        </p:txBody>
      </p:sp>
      <p:sp>
        <p:nvSpPr>
          <p:cNvPr id="4" name="Content Placeholder 3">
            <a:extLst>
              <a:ext uri="{FF2B5EF4-FFF2-40B4-BE49-F238E27FC236}">
                <a16:creationId xmlns:a16="http://schemas.microsoft.com/office/drawing/2014/main" id="{AE0723F1-8850-A269-165B-AD2B21BC03B8}"/>
              </a:ext>
            </a:extLst>
          </p:cNvPr>
          <p:cNvSpPr>
            <a:spLocks noGrp="1"/>
          </p:cNvSpPr>
          <p:nvPr>
            <p:ph sz="quarter" idx="12"/>
          </p:nvPr>
        </p:nvSpPr>
        <p:spPr>
          <a:xfrm>
            <a:off x="1381119" y="2051519"/>
            <a:ext cx="10264878" cy="3267734"/>
          </a:xfrm>
        </p:spPr>
        <p:txBody>
          <a:bodyPr>
            <a:normAutofit/>
          </a:bodyPr>
          <a:lstStyle/>
          <a:p>
            <a:pPr marL="342900" indent="-342900">
              <a:buFont typeface="Arial" panose="020B0604020202020204" pitchFamily="34" charset="0"/>
              <a:buChar char="•"/>
            </a:pPr>
            <a:r>
              <a:rPr lang="en-US" sz="2400" dirty="0"/>
              <a:t>Two modeling approaches:</a:t>
            </a:r>
          </a:p>
          <a:p>
            <a:pPr marL="1143000" lvl="2" indent="-457200">
              <a:buFont typeface="+mj-lt"/>
              <a:buAutoNum type="arabicPeriod"/>
            </a:pPr>
            <a:r>
              <a:rPr lang="en-US" sz="2400" dirty="0"/>
              <a:t>Difference-in-Differences (DID)</a:t>
            </a:r>
          </a:p>
          <a:p>
            <a:pPr marL="1143000" lvl="2" indent="-457200">
              <a:buFont typeface="+mj-lt"/>
              <a:buAutoNum type="arabicPeriod"/>
            </a:pPr>
            <a:r>
              <a:rPr lang="en-US" sz="2400" dirty="0"/>
              <a:t>Predictive regression (OLS, Ridge, Lasso)</a:t>
            </a:r>
          </a:p>
        </p:txBody>
      </p:sp>
    </p:spTree>
    <p:extLst>
      <p:ext uri="{BB962C8B-B14F-4D97-AF65-F5344CB8AC3E}">
        <p14:creationId xmlns:p14="http://schemas.microsoft.com/office/powerpoint/2010/main" val="20714199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3C15354-374E-4710-792F-592E588BAAE2}"/>
              </a:ext>
            </a:extLst>
          </p:cNvPr>
          <p:cNvSpPr>
            <a:spLocks noGrp="1"/>
          </p:cNvSpPr>
          <p:nvPr>
            <p:ph type="title"/>
          </p:nvPr>
        </p:nvSpPr>
        <p:spPr>
          <a:xfrm>
            <a:off x="953728" y="262487"/>
            <a:ext cx="11012129" cy="1202519"/>
          </a:xfrm>
        </p:spPr>
        <p:txBody>
          <a:bodyPr/>
          <a:lstStyle/>
          <a:p>
            <a:r>
              <a:rPr lang="en-US" dirty="0"/>
              <a:t>Modeling &amp; Analysis: Difference-in-Differences (DID)</a:t>
            </a:r>
            <a:endParaRPr lang="en-ZA" dirty="0"/>
          </a:p>
        </p:txBody>
      </p:sp>
      <p:sp>
        <p:nvSpPr>
          <p:cNvPr id="4" name="Content Placeholder 3">
            <a:extLst>
              <a:ext uri="{FF2B5EF4-FFF2-40B4-BE49-F238E27FC236}">
                <a16:creationId xmlns:a16="http://schemas.microsoft.com/office/drawing/2014/main" id="{685D951B-D6C0-AB0A-0FFD-23670BE643EE}"/>
              </a:ext>
            </a:extLst>
          </p:cNvPr>
          <p:cNvSpPr>
            <a:spLocks noGrp="1"/>
          </p:cNvSpPr>
          <p:nvPr>
            <p:ph sz="quarter" idx="12"/>
          </p:nvPr>
        </p:nvSpPr>
        <p:spPr>
          <a:xfrm>
            <a:off x="1219200" y="1376516"/>
            <a:ext cx="10560664" cy="5218997"/>
          </a:xfrm>
        </p:spPr>
        <p:txBody>
          <a:bodyPr>
            <a:normAutofit/>
          </a:bodyPr>
          <a:lstStyle/>
          <a:p>
            <a:pPr marL="342900" indent="-342900">
              <a:buFont typeface="Arial" panose="020B0604020202020204" pitchFamily="34" charset="0"/>
              <a:buChar char="•"/>
            </a:pPr>
            <a:r>
              <a:rPr lang="en-US" dirty="0"/>
              <a:t>Difference-in-differences (DID) is a quasi-experimental method used to estimate the effect of an exposure when randomized experiments are not feasible.</a:t>
            </a:r>
          </a:p>
          <a:p>
            <a:pPr marL="342900" indent="-342900">
              <a:buFont typeface="Arial" panose="020B0604020202020204" pitchFamily="34" charset="0"/>
              <a:buChar char="•"/>
            </a:pPr>
            <a:r>
              <a:rPr lang="en-US" dirty="0"/>
              <a:t>The approach compares changes over time between:</a:t>
            </a:r>
          </a:p>
          <a:p>
            <a:pPr marL="937260" lvl="2" indent="-342900">
              <a:buFont typeface="Arial" panose="020B0604020202020204" pitchFamily="34" charset="0"/>
              <a:buChar char="•"/>
            </a:pPr>
            <a:r>
              <a:rPr lang="en-US" dirty="0"/>
              <a:t>Buildings exposed to canopy gain or loss.</a:t>
            </a:r>
          </a:p>
          <a:p>
            <a:pPr marL="937260" lvl="2" indent="-342900">
              <a:buFont typeface="Arial" panose="020B0604020202020204" pitchFamily="34" charset="0"/>
              <a:buChar char="•"/>
            </a:pPr>
            <a:r>
              <a:rPr lang="en-US" dirty="0"/>
              <a:t>Buildings with no change in canopy coverage. </a:t>
            </a:r>
          </a:p>
          <a:p>
            <a:pPr marL="342900" indent="-342900">
              <a:buFont typeface="Arial" panose="020B0604020202020204" pitchFamily="34" charset="0"/>
              <a:buChar char="•"/>
            </a:pPr>
            <a:r>
              <a:rPr lang="en-US" dirty="0"/>
              <a:t>Focused on changes over time within the same buildings, accounting for consistent building characteristics and shared time trends. </a:t>
            </a:r>
          </a:p>
          <a:p>
            <a:pPr marL="342900" indent="-342900">
              <a:buFont typeface="Arial" panose="020B0604020202020204" pitchFamily="34" charset="0"/>
              <a:buChar char="•"/>
            </a:pPr>
            <a:r>
              <a:rPr lang="en-US" dirty="0"/>
              <a:t>This method was selected based on prior literature examining tree impacts on residential energy use and professor input. </a:t>
            </a:r>
            <a:r>
              <a:rPr lang="en-US" i="1" dirty="0" err="1"/>
              <a:t>Ravazdezh</a:t>
            </a:r>
            <a:r>
              <a:rPr lang="en-US" i="1" dirty="0"/>
              <a:t> &amp; Rivers (2025)</a:t>
            </a:r>
          </a:p>
          <a:p>
            <a:pPr marL="342900" indent="-342900">
              <a:buFont typeface="Arial" panose="020B0604020202020204" pitchFamily="34" charset="0"/>
              <a:buChar char="•"/>
            </a:pPr>
            <a:r>
              <a:rPr lang="en-US" dirty="0"/>
              <a:t>The model assumes that absent canopy change, energy use trends would have been similar across building groups.</a:t>
            </a:r>
          </a:p>
        </p:txBody>
      </p:sp>
      <p:sp>
        <p:nvSpPr>
          <p:cNvPr id="5" name="Slide Number Placeholder 4">
            <a:extLst>
              <a:ext uri="{FF2B5EF4-FFF2-40B4-BE49-F238E27FC236}">
                <a16:creationId xmlns:a16="http://schemas.microsoft.com/office/drawing/2014/main" id="{25756543-DA8C-CEE2-0E13-19DE61C1349B}"/>
              </a:ext>
            </a:extLst>
          </p:cNvPr>
          <p:cNvSpPr>
            <a:spLocks noGrp="1"/>
          </p:cNvSpPr>
          <p:nvPr>
            <p:ph type="sldNum" sz="quarter" idx="15"/>
          </p:nvPr>
        </p:nvSpPr>
        <p:spPr/>
        <p:txBody>
          <a:bodyPr/>
          <a:lstStyle/>
          <a:p>
            <a:fld id="{18D65601-5AE2-46FC-B138-694DDD2B510D}" type="slidenum">
              <a:rPr lang="en-US" smtClean="0"/>
              <a:pPr/>
              <a:t>32</a:t>
            </a:fld>
            <a:endParaRPr lang="en-US" dirty="0"/>
          </a:p>
        </p:txBody>
      </p:sp>
    </p:spTree>
    <p:extLst>
      <p:ext uri="{BB962C8B-B14F-4D97-AF65-F5344CB8AC3E}">
        <p14:creationId xmlns:p14="http://schemas.microsoft.com/office/powerpoint/2010/main" val="23020101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FF5BF-F1E6-8506-823B-E025C4E6D74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F68A6E9-31F8-57C4-26A7-BF3C6B5443EC}"/>
              </a:ext>
            </a:extLst>
          </p:cNvPr>
          <p:cNvSpPr>
            <a:spLocks noGrp="1"/>
          </p:cNvSpPr>
          <p:nvPr>
            <p:ph type="title"/>
          </p:nvPr>
        </p:nvSpPr>
        <p:spPr>
          <a:xfrm>
            <a:off x="1012721" y="95341"/>
            <a:ext cx="11012129" cy="553588"/>
          </a:xfrm>
        </p:spPr>
        <p:txBody>
          <a:bodyPr>
            <a:normAutofit fontScale="90000"/>
          </a:bodyPr>
          <a:lstStyle/>
          <a:p>
            <a:r>
              <a:rPr lang="en-US" dirty="0"/>
              <a:t>Modeling &amp; Analysis: Difference-in-Differences (DID)</a:t>
            </a:r>
            <a:endParaRPr lang="en-ZA" dirty="0"/>
          </a:p>
        </p:txBody>
      </p:sp>
      <p:sp>
        <p:nvSpPr>
          <p:cNvPr id="5" name="Slide Number Placeholder 4">
            <a:extLst>
              <a:ext uri="{FF2B5EF4-FFF2-40B4-BE49-F238E27FC236}">
                <a16:creationId xmlns:a16="http://schemas.microsoft.com/office/drawing/2014/main" id="{D066E8C6-4708-64B0-BC37-F4142F516DD8}"/>
              </a:ext>
            </a:extLst>
          </p:cNvPr>
          <p:cNvSpPr>
            <a:spLocks noGrp="1"/>
          </p:cNvSpPr>
          <p:nvPr>
            <p:ph type="sldNum" sz="quarter" idx="15"/>
          </p:nvPr>
        </p:nvSpPr>
        <p:spPr/>
        <p:txBody>
          <a:bodyPr/>
          <a:lstStyle/>
          <a:p>
            <a:fld id="{18D65601-5AE2-46FC-B138-694DDD2B510D}" type="slidenum">
              <a:rPr lang="en-US" smtClean="0"/>
              <a:pPr/>
              <a:t>33</a:t>
            </a:fld>
            <a:endParaRPr lang="en-US" dirty="0"/>
          </a:p>
        </p:txBody>
      </p:sp>
      <p:graphicFrame>
        <p:nvGraphicFramePr>
          <p:cNvPr id="7" name="Table 6">
            <a:extLst>
              <a:ext uri="{FF2B5EF4-FFF2-40B4-BE49-F238E27FC236}">
                <a16:creationId xmlns:a16="http://schemas.microsoft.com/office/drawing/2014/main" id="{5AA022D4-2E89-2591-6D01-5C1646A5C4D2}"/>
              </a:ext>
            </a:extLst>
          </p:cNvPr>
          <p:cNvGraphicFramePr>
            <a:graphicFrameLocks noGrp="1"/>
          </p:cNvGraphicFramePr>
          <p:nvPr>
            <p:extLst>
              <p:ext uri="{D42A27DB-BD31-4B8C-83A1-F6EECF244321}">
                <p14:modId xmlns:p14="http://schemas.microsoft.com/office/powerpoint/2010/main" val="2005244959"/>
              </p:ext>
            </p:extLst>
          </p:nvPr>
        </p:nvGraphicFramePr>
        <p:xfrm>
          <a:off x="1190521" y="658761"/>
          <a:ext cx="10589343" cy="5543676"/>
        </p:xfrm>
        <a:graphic>
          <a:graphicData uri="http://schemas.openxmlformats.org/drawingml/2006/table">
            <a:tbl>
              <a:tblPr firstRow="1" firstCol="1" bandRow="1">
                <a:tableStyleId>{68D230F3-CF80-4859-8CE7-A43EE81993B5}</a:tableStyleId>
              </a:tblPr>
              <a:tblGrid>
                <a:gridCol w="601703">
                  <a:extLst>
                    <a:ext uri="{9D8B030D-6E8A-4147-A177-3AD203B41FA5}">
                      <a16:colId xmlns:a16="http://schemas.microsoft.com/office/drawing/2014/main" val="844993790"/>
                    </a:ext>
                  </a:extLst>
                </a:gridCol>
                <a:gridCol w="3407120">
                  <a:extLst>
                    <a:ext uri="{9D8B030D-6E8A-4147-A177-3AD203B41FA5}">
                      <a16:colId xmlns:a16="http://schemas.microsoft.com/office/drawing/2014/main" val="616750787"/>
                    </a:ext>
                  </a:extLst>
                </a:gridCol>
                <a:gridCol w="913261">
                  <a:extLst>
                    <a:ext uri="{9D8B030D-6E8A-4147-A177-3AD203B41FA5}">
                      <a16:colId xmlns:a16="http://schemas.microsoft.com/office/drawing/2014/main" val="3026782176"/>
                    </a:ext>
                  </a:extLst>
                </a:gridCol>
                <a:gridCol w="1052397">
                  <a:extLst>
                    <a:ext uri="{9D8B030D-6E8A-4147-A177-3AD203B41FA5}">
                      <a16:colId xmlns:a16="http://schemas.microsoft.com/office/drawing/2014/main" val="530184084"/>
                    </a:ext>
                  </a:extLst>
                </a:gridCol>
                <a:gridCol w="1265766">
                  <a:extLst>
                    <a:ext uri="{9D8B030D-6E8A-4147-A177-3AD203B41FA5}">
                      <a16:colId xmlns:a16="http://schemas.microsoft.com/office/drawing/2014/main" val="2981371546"/>
                    </a:ext>
                  </a:extLst>
                </a:gridCol>
                <a:gridCol w="3349096">
                  <a:extLst>
                    <a:ext uri="{9D8B030D-6E8A-4147-A177-3AD203B41FA5}">
                      <a16:colId xmlns:a16="http://schemas.microsoft.com/office/drawing/2014/main" val="3187688264"/>
                    </a:ext>
                  </a:extLst>
                </a:gridCol>
              </a:tblGrid>
              <a:tr h="320361">
                <a:tc>
                  <a:txBody>
                    <a:bodyPr/>
                    <a:lstStyle/>
                    <a:p>
                      <a:pPr marL="0" marR="0" algn="ctr">
                        <a:lnSpc>
                          <a:spcPct val="115000"/>
                        </a:lnSpc>
                        <a:spcAft>
                          <a:spcPts val="800"/>
                        </a:spcAft>
                        <a:buNone/>
                      </a:pPr>
                      <a:r>
                        <a:rPr lang="en-US" sz="1100" kern="100" dirty="0">
                          <a:effectLst/>
                        </a:rPr>
                        <a:t>Model Number</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tc>
                <a:tc>
                  <a:txBody>
                    <a:bodyPr/>
                    <a:lstStyle/>
                    <a:p>
                      <a:pPr marL="0" marR="0" algn="ctr">
                        <a:lnSpc>
                          <a:spcPct val="115000"/>
                        </a:lnSpc>
                        <a:spcAft>
                          <a:spcPts val="800"/>
                        </a:spcAft>
                        <a:buNone/>
                      </a:pPr>
                      <a:r>
                        <a:rPr lang="en-US" sz="1100" kern="100" dirty="0">
                          <a:effectLst/>
                        </a:rPr>
                        <a:t>Formula</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tc>
                <a:tc>
                  <a:txBody>
                    <a:bodyPr/>
                    <a:lstStyle/>
                    <a:p>
                      <a:pPr marL="0" marR="0" algn="ctr">
                        <a:lnSpc>
                          <a:spcPct val="115000"/>
                        </a:lnSpc>
                        <a:spcAft>
                          <a:spcPts val="800"/>
                        </a:spcAft>
                        <a:buNone/>
                      </a:pPr>
                      <a:r>
                        <a:rPr lang="en-US" sz="1100" kern="100" dirty="0">
                          <a:effectLst/>
                        </a:rPr>
                        <a:t>R</a:t>
                      </a:r>
                      <a:r>
                        <a:rPr lang="en-US" sz="1100" kern="100" baseline="30000" dirty="0">
                          <a:effectLst/>
                        </a:rPr>
                        <a:t>2 </a:t>
                      </a:r>
                      <a:r>
                        <a:rPr lang="en-US" sz="1100" kern="100" dirty="0">
                          <a:effectLst/>
                        </a:rPr>
                        <a:t>Value / Adj. R</a:t>
                      </a:r>
                      <a:r>
                        <a:rPr lang="en-US" sz="1100" kern="100" baseline="30000" dirty="0">
                          <a:effectLst/>
                        </a:rPr>
                        <a:t>2 </a:t>
                      </a:r>
                      <a:r>
                        <a:rPr lang="en-US" sz="1100" kern="100" dirty="0">
                          <a:effectLst/>
                        </a:rPr>
                        <a:t>Value</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tc>
                <a:tc>
                  <a:txBody>
                    <a:bodyPr/>
                    <a:lstStyle/>
                    <a:p>
                      <a:pPr marL="0" marR="0" algn="ctr">
                        <a:lnSpc>
                          <a:spcPct val="115000"/>
                        </a:lnSpc>
                        <a:spcAft>
                          <a:spcPts val="800"/>
                        </a:spcAft>
                        <a:buNone/>
                      </a:pPr>
                      <a:r>
                        <a:rPr lang="en-US" sz="1100" kern="100" dirty="0">
                          <a:effectLst/>
                        </a:rPr>
                        <a:t>AIC / BIC</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tc>
                <a:tc>
                  <a:txBody>
                    <a:bodyPr/>
                    <a:lstStyle/>
                    <a:p>
                      <a:pPr marL="0" marR="0" algn="ctr">
                        <a:lnSpc>
                          <a:spcPct val="115000"/>
                        </a:lnSpc>
                        <a:spcAft>
                          <a:spcPts val="800"/>
                        </a:spcAft>
                        <a:buNone/>
                      </a:pPr>
                      <a:r>
                        <a:rPr lang="en-US" sz="1100" kern="100" dirty="0">
                          <a:effectLst/>
                        </a:rPr>
                        <a:t>F-Statistic / Prob. (F-Statistic)</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tc>
                <a:tc>
                  <a:txBody>
                    <a:bodyPr/>
                    <a:lstStyle/>
                    <a:p>
                      <a:pPr marL="0" marR="0" algn="ctr">
                        <a:lnSpc>
                          <a:spcPct val="115000"/>
                        </a:lnSpc>
                        <a:spcAft>
                          <a:spcPts val="800"/>
                        </a:spcAft>
                        <a:buNone/>
                      </a:pPr>
                      <a:r>
                        <a:rPr lang="en-US" sz="1100" kern="100" dirty="0">
                          <a:effectLst/>
                        </a:rPr>
                        <a:t>Statistically Sig. Coefficients </a:t>
                      </a:r>
                      <a:r>
                        <a:rPr lang="en-US" sz="1200" kern="100" dirty="0">
                          <a:effectLst/>
                        </a:rPr>
                        <a:t> </a:t>
                      </a:r>
                      <a:br>
                        <a:rPr lang="en-US" sz="1200" kern="100" dirty="0">
                          <a:effectLst/>
                        </a:rPr>
                      </a:br>
                      <a:r>
                        <a:rPr lang="en-US" sz="1100" kern="100" dirty="0">
                          <a:effectLst/>
                        </a:rPr>
                        <a:t>(p-value &lt;0.05) &amp; Notes</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tc>
                <a:extLst>
                  <a:ext uri="{0D108BD9-81ED-4DB2-BD59-A6C34878D82A}">
                    <a16:rowId xmlns:a16="http://schemas.microsoft.com/office/drawing/2014/main" val="4152615697"/>
                  </a:ext>
                </a:extLst>
              </a:tr>
              <a:tr h="667620">
                <a:tc>
                  <a:txBody>
                    <a:bodyPr/>
                    <a:lstStyle/>
                    <a:p>
                      <a:pPr marL="0" marR="0" algn="ctr">
                        <a:lnSpc>
                          <a:spcPct val="115000"/>
                        </a:lnSpc>
                        <a:spcAft>
                          <a:spcPts val="800"/>
                        </a:spcAft>
                        <a:buNone/>
                      </a:pPr>
                      <a:r>
                        <a:rPr lang="en-US" sz="900" kern="100">
                          <a:effectLst/>
                        </a:rPr>
                        <a:t>1</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a:effectLst/>
                        </a:rPr>
                        <a:t>weather_normalized_site_eui  ~ post_2017 * canopy_change_class + NumFloors + UnitsRes+ ground_elevation+ height_roof+ C(year_built_bracket)</a:t>
                      </a:r>
                      <a:r>
                        <a:rPr lang="en-US" sz="1000" kern="100">
                          <a:effectLst/>
                        </a:rPr>
                        <a:t> + </a:t>
                      </a:r>
                      <a:r>
                        <a:rPr lang="en-US" sz="900" kern="100">
                          <a:effectLst/>
                        </a:rPr>
                        <a:t>C(commercial_floor_flag)</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0.037 /</a:t>
                      </a:r>
                      <a:r>
                        <a:rPr lang="en-US" sz="1000" kern="100" dirty="0">
                          <a:effectLst/>
                        </a:rPr>
                        <a:t> </a:t>
                      </a:r>
                      <a:r>
                        <a:rPr lang="en-US" sz="900" kern="100" dirty="0">
                          <a:effectLst/>
                        </a:rPr>
                        <a:t>0.026</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9831 / 9895</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2.439 / 0.00431</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a:effectLst/>
                        </a:rPr>
                        <a:t>C(year_built_bracket)[T.1950-1980]</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extLst>
                  <a:ext uri="{0D108BD9-81ED-4DB2-BD59-A6C34878D82A}">
                    <a16:rowId xmlns:a16="http://schemas.microsoft.com/office/drawing/2014/main" val="3673650136"/>
                  </a:ext>
                </a:extLst>
              </a:tr>
              <a:tr h="559077">
                <a:tc>
                  <a:txBody>
                    <a:bodyPr/>
                    <a:lstStyle/>
                    <a:p>
                      <a:pPr marL="0" marR="0" algn="ctr">
                        <a:lnSpc>
                          <a:spcPct val="115000"/>
                        </a:lnSpc>
                        <a:spcAft>
                          <a:spcPts val="800"/>
                        </a:spcAft>
                        <a:buNone/>
                      </a:pPr>
                      <a:r>
                        <a:rPr lang="en-US" sz="900" kern="100">
                          <a:effectLst/>
                        </a:rPr>
                        <a:t>2</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err="1">
                          <a:effectLst/>
                        </a:rPr>
                        <a:t>log_eui</a:t>
                      </a:r>
                      <a:r>
                        <a:rPr lang="en-US" sz="900" kern="100" dirty="0">
                          <a:effectLst/>
                        </a:rPr>
                        <a:t> ~ post_2017 * </a:t>
                      </a:r>
                      <a:r>
                        <a:rPr lang="en-US" sz="900" kern="100" dirty="0" err="1">
                          <a:effectLst/>
                        </a:rPr>
                        <a:t>canopy_change_class</a:t>
                      </a:r>
                      <a:r>
                        <a:rPr lang="en-US" sz="900" kern="100" dirty="0">
                          <a:effectLst/>
                        </a:rPr>
                        <a:t> + </a:t>
                      </a:r>
                      <a:r>
                        <a:rPr lang="en-US" sz="900" kern="100" dirty="0" err="1">
                          <a:effectLst/>
                        </a:rPr>
                        <a:t>NumFloors</a:t>
                      </a:r>
                      <a:r>
                        <a:rPr lang="en-US" sz="900" kern="100" dirty="0">
                          <a:effectLst/>
                        </a:rPr>
                        <a:t> + </a:t>
                      </a:r>
                      <a:r>
                        <a:rPr lang="en-US" sz="900" kern="100" dirty="0" err="1">
                          <a:effectLst/>
                        </a:rPr>
                        <a:t>UnitsRes</a:t>
                      </a:r>
                      <a:r>
                        <a:rPr lang="en-US" sz="900" kern="100" dirty="0">
                          <a:effectLst/>
                        </a:rPr>
                        <a:t>+ </a:t>
                      </a:r>
                      <a:r>
                        <a:rPr lang="en-US" sz="900" kern="100" dirty="0" err="1">
                          <a:effectLst/>
                        </a:rPr>
                        <a:t>ground_elevation</a:t>
                      </a:r>
                      <a:r>
                        <a:rPr lang="en-US" sz="900" kern="100" dirty="0">
                          <a:effectLst/>
                        </a:rPr>
                        <a:t>+ </a:t>
                      </a:r>
                      <a:r>
                        <a:rPr lang="en-US" sz="900" kern="100" dirty="0" err="1">
                          <a:effectLst/>
                        </a:rPr>
                        <a:t>height_roof</a:t>
                      </a:r>
                      <a:r>
                        <a:rPr lang="en-US" sz="900" kern="100" dirty="0">
                          <a:effectLst/>
                        </a:rPr>
                        <a:t>+ C(</a:t>
                      </a:r>
                      <a:r>
                        <a:rPr lang="en-US" sz="900" kern="100" dirty="0" err="1">
                          <a:effectLst/>
                        </a:rPr>
                        <a:t>year_built_bracket</a:t>
                      </a:r>
                      <a:r>
                        <a:rPr lang="en-US" sz="900" kern="100" dirty="0">
                          <a:effectLst/>
                        </a:rPr>
                        <a:t>)</a:t>
                      </a:r>
                      <a:r>
                        <a:rPr lang="en-US" sz="1000" kern="100" dirty="0">
                          <a:effectLst/>
                        </a:rPr>
                        <a:t> + </a:t>
                      </a:r>
                      <a:r>
                        <a:rPr lang="en-US" sz="900" kern="100" dirty="0">
                          <a:effectLst/>
                        </a:rPr>
                        <a:t>C(</a:t>
                      </a:r>
                      <a:r>
                        <a:rPr lang="en-US" sz="900" kern="100" dirty="0" err="1">
                          <a:effectLst/>
                        </a:rPr>
                        <a:t>commercial_floor_flag</a:t>
                      </a:r>
                      <a:r>
                        <a:rPr lang="en-US" sz="900" kern="100" dirty="0">
                          <a:effectLst/>
                        </a:rPr>
                        <a:t>)</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0.035</a:t>
                      </a:r>
                      <a:r>
                        <a:rPr lang="en-US" sz="1000" kern="100" dirty="0">
                          <a:effectLst/>
                        </a:rPr>
                        <a:t> </a:t>
                      </a:r>
                      <a:r>
                        <a:rPr lang="en-US" sz="900" kern="100" dirty="0">
                          <a:effectLst/>
                        </a:rPr>
                        <a:t>/ 0.024</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1065</a:t>
                      </a:r>
                      <a:r>
                        <a:rPr lang="en-US" sz="1000" kern="100" dirty="0">
                          <a:effectLst/>
                        </a:rPr>
                        <a:t> </a:t>
                      </a:r>
                      <a:r>
                        <a:rPr lang="en-US" sz="900" kern="100" dirty="0">
                          <a:effectLst/>
                        </a:rPr>
                        <a:t>/ 1130</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2.090</a:t>
                      </a:r>
                      <a:r>
                        <a:rPr lang="en-US" sz="1000" kern="100" dirty="0">
                          <a:effectLst/>
                        </a:rPr>
                        <a:t> </a:t>
                      </a:r>
                      <a:r>
                        <a:rPr lang="en-US" sz="900" kern="100" dirty="0">
                          <a:effectLst/>
                        </a:rPr>
                        <a:t>/ 0.0162</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a:effectLst/>
                        </a:rPr>
                        <a:t>C(year_built_bracket)[T.1950-1980]</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extLst>
                  <a:ext uri="{0D108BD9-81ED-4DB2-BD59-A6C34878D82A}">
                    <a16:rowId xmlns:a16="http://schemas.microsoft.com/office/drawing/2014/main" val="4071585215"/>
                  </a:ext>
                </a:extLst>
              </a:tr>
              <a:tr h="559077">
                <a:tc>
                  <a:txBody>
                    <a:bodyPr/>
                    <a:lstStyle/>
                    <a:p>
                      <a:pPr marL="0" marR="0" algn="ctr">
                        <a:lnSpc>
                          <a:spcPct val="115000"/>
                        </a:lnSpc>
                        <a:spcAft>
                          <a:spcPts val="800"/>
                        </a:spcAft>
                        <a:buNone/>
                      </a:pPr>
                      <a:r>
                        <a:rPr lang="en-US" sz="900" kern="100">
                          <a:effectLst/>
                        </a:rPr>
                        <a:t>3</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a:effectLst/>
                        </a:rPr>
                        <a:t>sqrt_eui ~ post_2017 * canopy_change_class + NumFloors + UnitsRes+ ground_elevation+ height_roof+ C(year_built_bracket)</a:t>
                      </a:r>
                      <a:r>
                        <a:rPr lang="en-US" sz="1000" kern="100">
                          <a:effectLst/>
                        </a:rPr>
                        <a:t> + </a:t>
                      </a:r>
                      <a:r>
                        <a:rPr lang="en-US" sz="900" kern="100">
                          <a:effectLst/>
                        </a:rPr>
                        <a:t>C(commercial_floor_flag)</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0.037 </a:t>
                      </a:r>
                      <a:r>
                        <a:rPr lang="en-US" sz="1000" kern="100" dirty="0">
                          <a:effectLst/>
                        </a:rPr>
                        <a:t> </a:t>
                      </a:r>
                      <a:r>
                        <a:rPr lang="en-US" sz="900" kern="100" dirty="0">
                          <a:effectLst/>
                        </a:rPr>
                        <a:t>/ 0.026 </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3944</a:t>
                      </a:r>
                      <a:r>
                        <a:rPr lang="en-US" sz="1000" kern="100" dirty="0">
                          <a:effectLst/>
                        </a:rPr>
                        <a:t> </a:t>
                      </a:r>
                      <a:r>
                        <a:rPr lang="en-US" sz="900" kern="100" dirty="0">
                          <a:effectLst/>
                        </a:rPr>
                        <a:t>/ 4008</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2.335</a:t>
                      </a:r>
                      <a:r>
                        <a:rPr lang="en-US" sz="1000" kern="100" dirty="0">
                          <a:effectLst/>
                        </a:rPr>
                        <a:t> </a:t>
                      </a:r>
                      <a:r>
                        <a:rPr lang="en-US" sz="900" kern="100" dirty="0">
                          <a:effectLst/>
                        </a:rPr>
                        <a:t>/ 0.00645</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a:effectLst/>
                        </a:rPr>
                        <a:t>C(year_built_bracket)[T.1950-1980]</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extLst>
                  <a:ext uri="{0D108BD9-81ED-4DB2-BD59-A6C34878D82A}">
                    <a16:rowId xmlns:a16="http://schemas.microsoft.com/office/drawing/2014/main" val="3522138522"/>
                  </a:ext>
                </a:extLst>
              </a:tr>
              <a:tr h="633608">
                <a:tc>
                  <a:txBody>
                    <a:bodyPr/>
                    <a:lstStyle/>
                    <a:p>
                      <a:pPr marL="0" marR="0" algn="ctr">
                        <a:lnSpc>
                          <a:spcPct val="115000"/>
                        </a:lnSpc>
                        <a:spcAft>
                          <a:spcPts val="800"/>
                        </a:spcAft>
                        <a:buNone/>
                      </a:pPr>
                      <a:r>
                        <a:rPr lang="en-US" sz="900" kern="100">
                          <a:effectLst/>
                        </a:rPr>
                        <a:t>4</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err="1">
                          <a:effectLst/>
                        </a:rPr>
                        <a:t>weather_normalized_site_eui</a:t>
                      </a:r>
                      <a:r>
                        <a:rPr lang="en-US" sz="900" kern="100" dirty="0">
                          <a:effectLst/>
                        </a:rPr>
                        <a:t> ~ post_2017 * </a:t>
                      </a:r>
                      <a:r>
                        <a:rPr lang="en-US" sz="900" kern="100" dirty="0" err="1">
                          <a:effectLst/>
                        </a:rPr>
                        <a:t>canopy_change_class</a:t>
                      </a:r>
                      <a:r>
                        <a:rPr lang="en-US" sz="900" kern="100" dirty="0">
                          <a:effectLst/>
                        </a:rPr>
                        <a:t>  + </a:t>
                      </a:r>
                      <a:r>
                        <a:rPr lang="en-US" sz="900" kern="100" dirty="0" err="1">
                          <a:effectLst/>
                        </a:rPr>
                        <a:t>NumFloors</a:t>
                      </a:r>
                      <a:r>
                        <a:rPr lang="en-US" sz="900" kern="100" dirty="0">
                          <a:effectLst/>
                        </a:rPr>
                        <a:t> + C(</a:t>
                      </a:r>
                      <a:r>
                        <a:rPr lang="en-US" sz="900" kern="100" dirty="0" err="1">
                          <a:effectLst/>
                        </a:rPr>
                        <a:t>year_built_bracket</a:t>
                      </a:r>
                      <a:r>
                        <a:rPr lang="en-US" sz="900" kern="100" dirty="0">
                          <a:effectLst/>
                        </a:rPr>
                        <a:t>) + C(</a:t>
                      </a:r>
                      <a:r>
                        <a:rPr lang="en-US" sz="900" kern="100" dirty="0" err="1">
                          <a:effectLst/>
                        </a:rPr>
                        <a:t>commercial_floor_flag</a:t>
                      </a:r>
                      <a:r>
                        <a:rPr lang="en-US" sz="900" kern="100" dirty="0">
                          <a:effectLst/>
                        </a:rPr>
                        <a:t>)</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0.032</a:t>
                      </a:r>
                      <a:r>
                        <a:rPr lang="en-US" sz="1000" kern="100" dirty="0">
                          <a:effectLst/>
                        </a:rPr>
                        <a:t> </a:t>
                      </a:r>
                      <a:r>
                        <a:rPr lang="en-US" sz="900" kern="100" dirty="0">
                          <a:effectLst/>
                        </a:rPr>
                        <a:t>/ 0.024</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9830</a:t>
                      </a:r>
                      <a:r>
                        <a:rPr lang="en-US" sz="1000" kern="100" dirty="0">
                          <a:effectLst/>
                        </a:rPr>
                        <a:t> </a:t>
                      </a:r>
                      <a:r>
                        <a:rPr lang="en-US" sz="900" kern="100" dirty="0">
                          <a:effectLst/>
                        </a:rPr>
                        <a:t>/ 9880</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2.658</a:t>
                      </a:r>
                      <a:r>
                        <a:rPr lang="en-US" sz="1000" kern="100" dirty="0">
                          <a:effectLst/>
                        </a:rPr>
                        <a:t> </a:t>
                      </a:r>
                      <a:r>
                        <a:rPr lang="en-US" sz="900" kern="100" dirty="0">
                          <a:effectLst/>
                        </a:rPr>
                        <a:t>/ 0.00509</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a:effectLst/>
                        </a:rPr>
                        <a:t>C(year_built_bracket)[T.1950-1980]</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extLst>
                  <a:ext uri="{0D108BD9-81ED-4DB2-BD59-A6C34878D82A}">
                    <a16:rowId xmlns:a16="http://schemas.microsoft.com/office/drawing/2014/main" val="3315395078"/>
                  </a:ext>
                </a:extLst>
              </a:tr>
              <a:tr h="546360">
                <a:tc>
                  <a:txBody>
                    <a:bodyPr/>
                    <a:lstStyle/>
                    <a:p>
                      <a:pPr marL="0" marR="0" algn="ctr">
                        <a:lnSpc>
                          <a:spcPct val="115000"/>
                        </a:lnSpc>
                        <a:spcAft>
                          <a:spcPts val="800"/>
                        </a:spcAft>
                        <a:buNone/>
                      </a:pPr>
                      <a:r>
                        <a:rPr lang="en-US" sz="900" kern="100">
                          <a:effectLst/>
                        </a:rPr>
                        <a:t>5</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err="1">
                          <a:effectLst/>
                        </a:rPr>
                        <a:t>log_eui</a:t>
                      </a:r>
                      <a:r>
                        <a:rPr lang="en-US" sz="900" kern="100" dirty="0">
                          <a:effectLst/>
                        </a:rPr>
                        <a:t> ~ post_2017 * </a:t>
                      </a:r>
                      <a:r>
                        <a:rPr lang="en-US" sz="900" kern="100" dirty="0" err="1">
                          <a:effectLst/>
                        </a:rPr>
                        <a:t>canopy_change_class</a:t>
                      </a:r>
                      <a:r>
                        <a:rPr lang="en-US" sz="900" kern="100" dirty="0">
                          <a:effectLst/>
                        </a:rPr>
                        <a:t>   + </a:t>
                      </a:r>
                      <a:r>
                        <a:rPr lang="en-US" sz="900" kern="100" dirty="0" err="1">
                          <a:effectLst/>
                        </a:rPr>
                        <a:t>NumFloors</a:t>
                      </a:r>
                      <a:r>
                        <a:rPr lang="en-US" sz="900" kern="100" dirty="0">
                          <a:effectLst/>
                        </a:rPr>
                        <a:t>  + C(</a:t>
                      </a:r>
                      <a:r>
                        <a:rPr lang="en-US" sz="900" kern="100" dirty="0" err="1">
                          <a:effectLst/>
                        </a:rPr>
                        <a:t>year_built_bracket</a:t>
                      </a:r>
                      <a:r>
                        <a:rPr lang="en-US" sz="900" kern="100" dirty="0">
                          <a:effectLst/>
                        </a:rPr>
                        <a:t>) + C(</a:t>
                      </a:r>
                      <a:r>
                        <a:rPr lang="en-US" sz="900" kern="100" dirty="0" err="1">
                          <a:effectLst/>
                        </a:rPr>
                        <a:t>commercial_floor_flag</a:t>
                      </a:r>
                      <a:r>
                        <a:rPr lang="en-US" sz="900" kern="100" dirty="0">
                          <a:effectLst/>
                        </a:rPr>
                        <a:t>)</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0.030</a:t>
                      </a:r>
                      <a:r>
                        <a:rPr lang="en-US" sz="1000" kern="100" dirty="0">
                          <a:effectLst/>
                        </a:rPr>
                        <a:t> </a:t>
                      </a:r>
                      <a:r>
                        <a:rPr lang="en-US" sz="900" kern="100" dirty="0">
                          <a:effectLst/>
                        </a:rPr>
                        <a:t>/ 0.022</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1065</a:t>
                      </a:r>
                      <a:r>
                        <a:rPr lang="en-US" sz="1000" kern="100" dirty="0">
                          <a:effectLst/>
                        </a:rPr>
                        <a:t> </a:t>
                      </a:r>
                      <a:r>
                        <a:rPr lang="en-US" sz="900" kern="100" dirty="0">
                          <a:effectLst/>
                        </a:rPr>
                        <a:t>/ 1114</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2.122 / 0.262</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C(</a:t>
                      </a:r>
                      <a:r>
                        <a:rPr lang="en-US" sz="900" kern="100" dirty="0" err="1">
                          <a:effectLst/>
                        </a:rPr>
                        <a:t>year_built_bracket</a:t>
                      </a:r>
                      <a:r>
                        <a:rPr lang="en-US" sz="900" kern="100" dirty="0">
                          <a:effectLst/>
                        </a:rPr>
                        <a:t>)[T.1950-1980]</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extLst>
                  <a:ext uri="{0D108BD9-81ED-4DB2-BD59-A6C34878D82A}">
                    <a16:rowId xmlns:a16="http://schemas.microsoft.com/office/drawing/2014/main" val="2853856168"/>
                  </a:ext>
                </a:extLst>
              </a:tr>
              <a:tr h="546360">
                <a:tc>
                  <a:txBody>
                    <a:bodyPr/>
                    <a:lstStyle/>
                    <a:p>
                      <a:pPr marL="0" marR="0" algn="ctr">
                        <a:lnSpc>
                          <a:spcPct val="115000"/>
                        </a:lnSpc>
                        <a:spcAft>
                          <a:spcPts val="800"/>
                        </a:spcAft>
                        <a:buNone/>
                      </a:pPr>
                      <a:r>
                        <a:rPr lang="en-US" sz="900" kern="100">
                          <a:effectLst/>
                        </a:rPr>
                        <a:t>6</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err="1">
                          <a:effectLst/>
                        </a:rPr>
                        <a:t>sqrt_eui</a:t>
                      </a:r>
                      <a:r>
                        <a:rPr lang="en-US" sz="900" kern="100" dirty="0">
                          <a:effectLst/>
                        </a:rPr>
                        <a:t> ~ post_2017 * </a:t>
                      </a:r>
                      <a:r>
                        <a:rPr lang="en-US" sz="900" kern="100" dirty="0" err="1">
                          <a:effectLst/>
                        </a:rPr>
                        <a:t>canopy_change_class</a:t>
                      </a:r>
                      <a:r>
                        <a:rPr lang="en-US" sz="900" kern="100" dirty="0">
                          <a:effectLst/>
                        </a:rPr>
                        <a:t>   + </a:t>
                      </a:r>
                      <a:r>
                        <a:rPr lang="en-US" sz="900" kern="100" dirty="0" err="1">
                          <a:effectLst/>
                        </a:rPr>
                        <a:t>NumFloors</a:t>
                      </a:r>
                      <a:r>
                        <a:rPr lang="en-US" sz="900" kern="100" dirty="0">
                          <a:effectLst/>
                        </a:rPr>
                        <a:t>  + C(</a:t>
                      </a:r>
                      <a:r>
                        <a:rPr lang="en-US" sz="900" kern="100" dirty="0" err="1">
                          <a:effectLst/>
                        </a:rPr>
                        <a:t>year_built_bracket</a:t>
                      </a:r>
                      <a:r>
                        <a:rPr lang="en-US" sz="900" kern="100" dirty="0">
                          <a:effectLst/>
                        </a:rPr>
                        <a:t>) + C(</a:t>
                      </a:r>
                      <a:r>
                        <a:rPr lang="en-US" sz="900" kern="100" dirty="0" err="1">
                          <a:effectLst/>
                        </a:rPr>
                        <a:t>commercial_floor_flag</a:t>
                      </a:r>
                      <a:r>
                        <a:rPr lang="en-US" sz="900" kern="100" dirty="0">
                          <a:effectLst/>
                        </a:rPr>
                        <a:t>)</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0.032</a:t>
                      </a:r>
                      <a:r>
                        <a:rPr lang="en-US" sz="1000" kern="100" dirty="0">
                          <a:effectLst/>
                        </a:rPr>
                        <a:t> </a:t>
                      </a:r>
                      <a:r>
                        <a:rPr lang="en-US" sz="900" kern="100" dirty="0">
                          <a:effectLst/>
                        </a:rPr>
                        <a:t>/ 0.023</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3943 / 3993</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2.449</a:t>
                      </a:r>
                      <a:r>
                        <a:rPr lang="en-US" sz="1000" kern="100" dirty="0">
                          <a:effectLst/>
                        </a:rPr>
                        <a:t> </a:t>
                      </a:r>
                      <a:r>
                        <a:rPr lang="en-US" sz="900" kern="100" dirty="0">
                          <a:effectLst/>
                        </a:rPr>
                        <a:t>/ 0.00978</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a:effectLst/>
                        </a:rPr>
                        <a:t>C(year_built_bracket)[T.1950-1980]</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extLst>
                  <a:ext uri="{0D108BD9-81ED-4DB2-BD59-A6C34878D82A}">
                    <a16:rowId xmlns:a16="http://schemas.microsoft.com/office/drawing/2014/main" val="3104986709"/>
                  </a:ext>
                </a:extLst>
              </a:tr>
              <a:tr h="546360">
                <a:tc>
                  <a:txBody>
                    <a:bodyPr/>
                    <a:lstStyle/>
                    <a:p>
                      <a:pPr marL="0" marR="0" algn="ctr">
                        <a:lnSpc>
                          <a:spcPct val="115000"/>
                        </a:lnSpc>
                        <a:spcAft>
                          <a:spcPts val="800"/>
                        </a:spcAft>
                        <a:buNone/>
                      </a:pPr>
                      <a:r>
                        <a:rPr lang="en-US" sz="900" kern="100">
                          <a:effectLst/>
                        </a:rPr>
                        <a:t>7</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err="1">
                          <a:effectLst/>
                        </a:rPr>
                        <a:t>weather_normalized_site_eui</a:t>
                      </a:r>
                      <a:r>
                        <a:rPr lang="en-US" sz="900" kern="100" dirty="0">
                          <a:effectLst/>
                        </a:rPr>
                        <a:t>   ~ post_2017 * </a:t>
                      </a:r>
                      <a:r>
                        <a:rPr lang="en-US" sz="900" kern="100" dirty="0" err="1">
                          <a:effectLst/>
                        </a:rPr>
                        <a:t>canopy_change_class</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0.001</a:t>
                      </a:r>
                      <a:r>
                        <a:rPr lang="en-US" sz="1000" kern="100" dirty="0">
                          <a:effectLst/>
                        </a:rPr>
                        <a:t> </a:t>
                      </a:r>
                      <a:r>
                        <a:rPr lang="en-US" sz="900" kern="100" dirty="0">
                          <a:effectLst/>
                        </a:rPr>
                        <a:t>/ -0.003</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9854</a:t>
                      </a:r>
                      <a:r>
                        <a:rPr lang="en-US" sz="1000" kern="100" dirty="0">
                          <a:effectLst/>
                        </a:rPr>
                        <a:t> </a:t>
                      </a:r>
                      <a:r>
                        <a:rPr lang="en-US" sz="900" kern="100" dirty="0">
                          <a:effectLst/>
                        </a:rPr>
                        <a:t>/ 9884</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0.4113</a:t>
                      </a:r>
                      <a:r>
                        <a:rPr lang="en-US" sz="1000" kern="100" dirty="0">
                          <a:effectLst/>
                        </a:rPr>
                        <a:t> </a:t>
                      </a:r>
                      <a:r>
                        <a:rPr lang="en-US" sz="900" kern="100" dirty="0">
                          <a:effectLst/>
                        </a:rPr>
                        <a:t>/ 0.841</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a:effectLst/>
                        </a:rPr>
                        <a:t>N/A</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extLst>
                  <a:ext uri="{0D108BD9-81ED-4DB2-BD59-A6C34878D82A}">
                    <a16:rowId xmlns:a16="http://schemas.microsoft.com/office/drawing/2014/main" val="3507056285"/>
                  </a:ext>
                </a:extLst>
              </a:tr>
              <a:tr h="546360">
                <a:tc>
                  <a:txBody>
                    <a:bodyPr/>
                    <a:lstStyle/>
                    <a:p>
                      <a:pPr marL="0" marR="0" algn="ctr">
                        <a:lnSpc>
                          <a:spcPct val="115000"/>
                        </a:lnSpc>
                        <a:spcAft>
                          <a:spcPts val="800"/>
                        </a:spcAft>
                        <a:buNone/>
                      </a:pPr>
                      <a:r>
                        <a:rPr lang="en-US" sz="900" kern="100">
                          <a:effectLst/>
                        </a:rPr>
                        <a:t>8</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err="1">
                          <a:effectLst/>
                        </a:rPr>
                        <a:t>log_eui</a:t>
                      </a:r>
                      <a:r>
                        <a:rPr lang="en-US" sz="900" kern="100" dirty="0">
                          <a:effectLst/>
                        </a:rPr>
                        <a:t>   ~ post_2017 * </a:t>
                      </a:r>
                      <a:r>
                        <a:rPr lang="en-US" sz="900" kern="100" dirty="0" err="1">
                          <a:effectLst/>
                        </a:rPr>
                        <a:t>canopy_change_class</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0.002 </a:t>
                      </a:r>
                      <a:r>
                        <a:rPr lang="en-US" sz="1000" kern="100" dirty="0">
                          <a:effectLst/>
                        </a:rPr>
                        <a:t> </a:t>
                      </a:r>
                      <a:r>
                        <a:rPr lang="en-US" sz="900" kern="100" dirty="0">
                          <a:effectLst/>
                        </a:rPr>
                        <a:t>/ -0.003</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1087</a:t>
                      </a:r>
                      <a:r>
                        <a:rPr lang="en-US" sz="1000" kern="100" dirty="0">
                          <a:effectLst/>
                        </a:rPr>
                        <a:t> </a:t>
                      </a:r>
                      <a:r>
                        <a:rPr lang="en-US" sz="900" kern="100" dirty="0">
                          <a:effectLst/>
                        </a:rPr>
                        <a:t>/ 1116</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0.4514</a:t>
                      </a:r>
                      <a:r>
                        <a:rPr lang="en-US" sz="1000" kern="100" dirty="0">
                          <a:effectLst/>
                        </a:rPr>
                        <a:t> </a:t>
                      </a:r>
                      <a:r>
                        <a:rPr lang="en-US" sz="900" kern="100" dirty="0">
                          <a:effectLst/>
                        </a:rPr>
                        <a:t>/ 0.812</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a:effectLst/>
                        </a:rPr>
                        <a:t>N/A</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extLst>
                  <a:ext uri="{0D108BD9-81ED-4DB2-BD59-A6C34878D82A}">
                    <a16:rowId xmlns:a16="http://schemas.microsoft.com/office/drawing/2014/main" val="1060409179"/>
                  </a:ext>
                </a:extLst>
              </a:tr>
              <a:tr h="546360">
                <a:tc>
                  <a:txBody>
                    <a:bodyPr/>
                    <a:lstStyle/>
                    <a:p>
                      <a:pPr marL="0" marR="0" algn="ctr">
                        <a:lnSpc>
                          <a:spcPct val="115000"/>
                        </a:lnSpc>
                        <a:spcAft>
                          <a:spcPts val="800"/>
                        </a:spcAft>
                        <a:buNone/>
                      </a:pPr>
                      <a:r>
                        <a:rPr lang="en-US" sz="900" kern="100">
                          <a:effectLst/>
                        </a:rPr>
                        <a:t>9</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err="1">
                          <a:effectLst/>
                        </a:rPr>
                        <a:t>sqrt_eui</a:t>
                      </a:r>
                      <a:r>
                        <a:rPr lang="en-US" sz="900" kern="100" dirty="0">
                          <a:effectLst/>
                        </a:rPr>
                        <a:t>  ~ post_2017 * </a:t>
                      </a:r>
                      <a:r>
                        <a:rPr lang="en-US" sz="900" kern="100" dirty="0" err="1">
                          <a:effectLst/>
                        </a:rPr>
                        <a:t>canopy_change_class</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0.001 </a:t>
                      </a:r>
                      <a:r>
                        <a:rPr lang="en-US" sz="1000" kern="100" dirty="0">
                          <a:effectLst/>
                        </a:rPr>
                        <a:t> </a:t>
                      </a:r>
                      <a:r>
                        <a:rPr lang="en-US" sz="900" kern="100" dirty="0">
                          <a:effectLst/>
                        </a:rPr>
                        <a:t>/ -0.003</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3967</a:t>
                      </a:r>
                      <a:r>
                        <a:rPr lang="en-US" sz="1000" kern="100" dirty="0">
                          <a:effectLst/>
                        </a:rPr>
                        <a:t> </a:t>
                      </a:r>
                      <a:r>
                        <a:rPr lang="en-US" sz="900" kern="100" dirty="0">
                          <a:effectLst/>
                        </a:rPr>
                        <a:t>/ 3997</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0.3788</a:t>
                      </a:r>
                      <a:r>
                        <a:rPr lang="en-US" sz="1000" kern="100" dirty="0">
                          <a:effectLst/>
                        </a:rPr>
                        <a:t> </a:t>
                      </a:r>
                      <a:r>
                        <a:rPr lang="en-US" sz="900" kern="100" dirty="0">
                          <a:effectLst/>
                        </a:rPr>
                        <a:t>/ 0.863</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tc>
                  <a:txBody>
                    <a:bodyPr/>
                    <a:lstStyle/>
                    <a:p>
                      <a:pPr marL="0" marR="0" algn="ctr">
                        <a:lnSpc>
                          <a:spcPct val="115000"/>
                        </a:lnSpc>
                        <a:spcAft>
                          <a:spcPts val="800"/>
                        </a:spcAft>
                        <a:buNone/>
                      </a:pPr>
                      <a:r>
                        <a:rPr lang="en-US" sz="900" kern="100" dirty="0">
                          <a:effectLst/>
                        </a:rPr>
                        <a:t>N/A</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858" marR="35858" marT="0" marB="0" anchor="ctr"/>
                </a:tc>
                <a:extLst>
                  <a:ext uri="{0D108BD9-81ED-4DB2-BD59-A6C34878D82A}">
                    <a16:rowId xmlns:a16="http://schemas.microsoft.com/office/drawing/2014/main" val="1866688313"/>
                  </a:ext>
                </a:extLst>
              </a:tr>
            </a:tbl>
          </a:graphicData>
        </a:graphic>
      </p:graphicFrame>
    </p:spTree>
    <p:extLst>
      <p:ext uri="{BB962C8B-B14F-4D97-AF65-F5344CB8AC3E}">
        <p14:creationId xmlns:p14="http://schemas.microsoft.com/office/powerpoint/2010/main" val="3607071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41A72-D289-37A1-F6A9-A6BC3DF23BB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01E3BFC-C99C-5784-EBED-E5F860EDC07F}"/>
              </a:ext>
            </a:extLst>
          </p:cNvPr>
          <p:cNvSpPr>
            <a:spLocks noGrp="1"/>
          </p:cNvSpPr>
          <p:nvPr>
            <p:ph type="title"/>
          </p:nvPr>
        </p:nvSpPr>
        <p:spPr>
          <a:xfrm>
            <a:off x="953728" y="262487"/>
            <a:ext cx="11012129" cy="1202519"/>
          </a:xfrm>
        </p:spPr>
        <p:txBody>
          <a:bodyPr/>
          <a:lstStyle/>
          <a:p>
            <a:r>
              <a:rPr lang="en-US" dirty="0"/>
              <a:t>Modeling &amp; Analysis: Difference-in-Differences (DID)</a:t>
            </a:r>
            <a:endParaRPr lang="en-ZA" dirty="0"/>
          </a:p>
        </p:txBody>
      </p:sp>
      <p:sp>
        <p:nvSpPr>
          <p:cNvPr id="2" name="Content Placeholder 1">
            <a:extLst>
              <a:ext uri="{FF2B5EF4-FFF2-40B4-BE49-F238E27FC236}">
                <a16:creationId xmlns:a16="http://schemas.microsoft.com/office/drawing/2014/main" id="{A5102C52-7FAE-9494-0028-A02134282537}"/>
              </a:ext>
            </a:extLst>
          </p:cNvPr>
          <p:cNvSpPr>
            <a:spLocks noGrp="1"/>
          </p:cNvSpPr>
          <p:nvPr>
            <p:ph sz="quarter" idx="11"/>
          </p:nvPr>
        </p:nvSpPr>
        <p:spPr>
          <a:xfrm>
            <a:off x="1465007" y="1465007"/>
            <a:ext cx="9812578" cy="4711858"/>
          </a:xfrm>
        </p:spPr>
        <p:txBody>
          <a:bodyPr/>
          <a:lstStyle/>
          <a:p>
            <a:pPr marL="342900" indent="-342900">
              <a:buFont typeface="Arial" panose="020B0604020202020204" pitchFamily="34" charset="0"/>
              <a:buChar char="•"/>
            </a:pPr>
            <a:r>
              <a:rPr lang="en-US" dirty="0"/>
              <a:t>Across all specifications, canopy change coefficients are not statistically significant.</a:t>
            </a:r>
          </a:p>
          <a:p>
            <a:pPr marL="342900" indent="-342900">
              <a:buFont typeface="Arial" panose="020B0604020202020204" pitchFamily="34" charset="0"/>
              <a:buChar char="•"/>
            </a:pPr>
            <a:r>
              <a:rPr lang="en-US" dirty="0"/>
              <a:t>Model fit is consistently weak, suggesting limited explanatory power.</a:t>
            </a:r>
          </a:p>
          <a:p>
            <a:pPr marL="342900" indent="-342900">
              <a:buFont typeface="Arial" panose="020B0604020202020204" pitchFamily="34" charset="0"/>
              <a:buChar char="•"/>
            </a:pPr>
            <a:r>
              <a:rPr lang="en-US" dirty="0"/>
              <a:t>These results indicate that, within this dataset and time window, canopy change does not produce a detectable shift in weather normalized EUI.</a:t>
            </a:r>
          </a:p>
          <a:p>
            <a:pPr marL="342900" indent="-342900">
              <a:buFont typeface="Arial" panose="020B0604020202020204" pitchFamily="34" charset="0"/>
              <a:buChar char="•"/>
            </a:pPr>
            <a:r>
              <a:rPr lang="en-US" dirty="0"/>
              <a:t>The only consistently significant covariate is the 1950–1980 year-built bracket, suggesting building age plays a larger role than tree-related features.</a:t>
            </a:r>
          </a:p>
          <a:p>
            <a:pPr marL="342900" indent="-342900">
              <a:buFont typeface="Arial" panose="020B0604020202020204" pitchFamily="34" charset="0"/>
              <a:buChar char="•"/>
            </a:pPr>
            <a:r>
              <a:rPr lang="en-US" dirty="0"/>
              <a:t>Overall, the DID results suggest that any tree-related energy effect is small relative to dominant building characteristics.</a:t>
            </a:r>
          </a:p>
        </p:txBody>
      </p:sp>
      <p:sp>
        <p:nvSpPr>
          <p:cNvPr id="5" name="Slide Number Placeholder 4">
            <a:extLst>
              <a:ext uri="{FF2B5EF4-FFF2-40B4-BE49-F238E27FC236}">
                <a16:creationId xmlns:a16="http://schemas.microsoft.com/office/drawing/2014/main" id="{F222F02D-4790-E96F-4758-DE245C4DC078}"/>
              </a:ext>
            </a:extLst>
          </p:cNvPr>
          <p:cNvSpPr>
            <a:spLocks noGrp="1"/>
          </p:cNvSpPr>
          <p:nvPr>
            <p:ph type="sldNum" sz="quarter" idx="15"/>
          </p:nvPr>
        </p:nvSpPr>
        <p:spPr/>
        <p:txBody>
          <a:bodyPr/>
          <a:lstStyle/>
          <a:p>
            <a:fld id="{18D65601-5AE2-46FC-B138-694DDD2B510D}" type="slidenum">
              <a:rPr lang="en-US" smtClean="0"/>
              <a:pPr/>
              <a:t>34</a:t>
            </a:fld>
            <a:endParaRPr lang="en-US" dirty="0"/>
          </a:p>
        </p:txBody>
      </p:sp>
    </p:spTree>
    <p:extLst>
      <p:ext uri="{BB962C8B-B14F-4D97-AF65-F5344CB8AC3E}">
        <p14:creationId xmlns:p14="http://schemas.microsoft.com/office/powerpoint/2010/main" val="19151297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352D3-8C7C-6221-8CBD-2FA38ABA006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9C90E70-B008-22C8-0BEE-DDF0843F40EC}"/>
              </a:ext>
            </a:extLst>
          </p:cNvPr>
          <p:cNvSpPr>
            <a:spLocks noGrp="1"/>
          </p:cNvSpPr>
          <p:nvPr>
            <p:ph type="title"/>
          </p:nvPr>
        </p:nvSpPr>
        <p:spPr>
          <a:xfrm>
            <a:off x="953728" y="262487"/>
            <a:ext cx="11012129" cy="1202519"/>
          </a:xfrm>
        </p:spPr>
        <p:txBody>
          <a:bodyPr/>
          <a:lstStyle/>
          <a:p>
            <a:r>
              <a:rPr lang="en-US" dirty="0"/>
              <a:t>Modeling &amp; Analysis: Predictive Regressions</a:t>
            </a:r>
            <a:endParaRPr lang="en-ZA" dirty="0"/>
          </a:p>
        </p:txBody>
      </p:sp>
      <p:sp>
        <p:nvSpPr>
          <p:cNvPr id="2" name="Content Placeholder 1">
            <a:extLst>
              <a:ext uri="{FF2B5EF4-FFF2-40B4-BE49-F238E27FC236}">
                <a16:creationId xmlns:a16="http://schemas.microsoft.com/office/drawing/2014/main" id="{35FAB486-8836-311B-A528-F50D0B2D0629}"/>
              </a:ext>
            </a:extLst>
          </p:cNvPr>
          <p:cNvSpPr>
            <a:spLocks noGrp="1"/>
          </p:cNvSpPr>
          <p:nvPr>
            <p:ph sz="quarter" idx="11"/>
          </p:nvPr>
        </p:nvSpPr>
        <p:spPr>
          <a:xfrm>
            <a:off x="1032387" y="1278193"/>
            <a:ext cx="10933469" cy="5397909"/>
          </a:xfrm>
        </p:spPr>
        <p:txBody>
          <a:bodyPr>
            <a:normAutofit lnSpcReduction="10000"/>
          </a:bodyPr>
          <a:lstStyle/>
          <a:p>
            <a:pPr marL="342900" indent="-342900">
              <a:buFont typeface="Arial" panose="020B0604020202020204" pitchFamily="34" charset="0"/>
              <a:buChar char="•"/>
            </a:pPr>
            <a:r>
              <a:rPr lang="en-US" dirty="0"/>
              <a:t>Ordinary Least Squares (OLS), Ridge, and Lasso regressions were used as complementary predictive models.</a:t>
            </a:r>
          </a:p>
          <a:p>
            <a:pPr marL="342900" indent="-342900">
              <a:buFont typeface="Arial" panose="020B0604020202020204" pitchFamily="34" charset="0"/>
              <a:buChar char="•"/>
            </a:pPr>
            <a:r>
              <a:rPr lang="en-US" dirty="0"/>
              <a:t>Unlike DID, these models focus on prediction and feature importance, rather than causal comparison. </a:t>
            </a:r>
          </a:p>
          <a:p>
            <a:pPr marL="342900" indent="-342900">
              <a:buFont typeface="Arial" panose="020B0604020202020204" pitchFamily="34" charset="0"/>
              <a:buChar char="•"/>
            </a:pPr>
            <a:r>
              <a:rPr lang="en-US" dirty="0"/>
              <a:t>Ridge and Lasso regression models were selected to address multicollinearity among building and tree-related features and to reduce overfitting. These models use penalization terms with the OLS framework. </a:t>
            </a:r>
          </a:p>
          <a:p>
            <a:pPr marL="342900" indent="-342900">
              <a:buFont typeface="Arial" panose="020B0604020202020204" pitchFamily="34" charset="0"/>
              <a:buChar char="•"/>
            </a:pPr>
            <a:r>
              <a:rPr lang="en-US" dirty="0"/>
              <a:t>A delta EUI variable and a delta tree count variable was created representing the change in energy use between 2017 and 2010.</a:t>
            </a:r>
          </a:p>
          <a:p>
            <a:pPr marL="342900" indent="-342900">
              <a:buFont typeface="Arial" panose="020B0604020202020204" pitchFamily="34" charset="0"/>
              <a:buChar char="•"/>
            </a:pPr>
            <a:r>
              <a:rPr lang="en-US" dirty="0"/>
              <a:t>The dataset was restructured to support predictive modeling. This meant that the data had one row per building along with the new delta values.</a:t>
            </a:r>
          </a:p>
          <a:p>
            <a:pPr marL="342900" indent="-342900">
              <a:buFont typeface="Arial" panose="020B0604020202020204" pitchFamily="34" charset="0"/>
              <a:buChar char="•"/>
            </a:pPr>
            <a:r>
              <a:rPr lang="en-US" dirty="0"/>
              <a:t>Preprocessing like encoding categorical variables and standardizing numeric variables were caried out.</a:t>
            </a:r>
          </a:p>
        </p:txBody>
      </p:sp>
      <p:sp>
        <p:nvSpPr>
          <p:cNvPr id="5" name="Slide Number Placeholder 4">
            <a:extLst>
              <a:ext uri="{FF2B5EF4-FFF2-40B4-BE49-F238E27FC236}">
                <a16:creationId xmlns:a16="http://schemas.microsoft.com/office/drawing/2014/main" id="{DBACB0CC-8E6F-A52B-8B73-F3F6C3BF7E37}"/>
              </a:ext>
            </a:extLst>
          </p:cNvPr>
          <p:cNvSpPr>
            <a:spLocks noGrp="1"/>
          </p:cNvSpPr>
          <p:nvPr>
            <p:ph type="sldNum" sz="quarter" idx="15"/>
          </p:nvPr>
        </p:nvSpPr>
        <p:spPr/>
        <p:txBody>
          <a:bodyPr/>
          <a:lstStyle/>
          <a:p>
            <a:fld id="{18D65601-5AE2-46FC-B138-694DDD2B510D}" type="slidenum">
              <a:rPr lang="en-US" smtClean="0"/>
              <a:pPr/>
              <a:t>35</a:t>
            </a:fld>
            <a:endParaRPr lang="en-US" dirty="0"/>
          </a:p>
        </p:txBody>
      </p:sp>
    </p:spTree>
    <p:extLst>
      <p:ext uri="{BB962C8B-B14F-4D97-AF65-F5344CB8AC3E}">
        <p14:creationId xmlns:p14="http://schemas.microsoft.com/office/powerpoint/2010/main" val="17157272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121B2-6D13-D924-D6BB-33B27621D35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D8F1EA9-9D72-4D9C-56B6-AE2B3A8B3A54}"/>
              </a:ext>
            </a:extLst>
          </p:cNvPr>
          <p:cNvSpPr>
            <a:spLocks noGrp="1"/>
          </p:cNvSpPr>
          <p:nvPr>
            <p:ph type="title"/>
          </p:nvPr>
        </p:nvSpPr>
        <p:spPr>
          <a:xfrm>
            <a:off x="953728" y="262487"/>
            <a:ext cx="11012129" cy="1202519"/>
          </a:xfrm>
        </p:spPr>
        <p:txBody>
          <a:bodyPr/>
          <a:lstStyle/>
          <a:p>
            <a:r>
              <a:rPr lang="en-US" dirty="0"/>
              <a:t>Modeling &amp; Analysis: Predictive Regressions</a:t>
            </a:r>
            <a:endParaRPr lang="en-ZA" dirty="0"/>
          </a:p>
        </p:txBody>
      </p:sp>
      <p:sp>
        <p:nvSpPr>
          <p:cNvPr id="5" name="Slide Number Placeholder 4">
            <a:extLst>
              <a:ext uri="{FF2B5EF4-FFF2-40B4-BE49-F238E27FC236}">
                <a16:creationId xmlns:a16="http://schemas.microsoft.com/office/drawing/2014/main" id="{01DAF3B2-BB05-5719-A57B-B3477D57D377}"/>
              </a:ext>
            </a:extLst>
          </p:cNvPr>
          <p:cNvSpPr>
            <a:spLocks noGrp="1"/>
          </p:cNvSpPr>
          <p:nvPr>
            <p:ph type="sldNum" sz="quarter" idx="15"/>
          </p:nvPr>
        </p:nvSpPr>
        <p:spPr/>
        <p:txBody>
          <a:bodyPr/>
          <a:lstStyle/>
          <a:p>
            <a:fld id="{18D65601-5AE2-46FC-B138-694DDD2B510D}" type="slidenum">
              <a:rPr lang="en-US" smtClean="0"/>
              <a:pPr/>
              <a:t>36</a:t>
            </a:fld>
            <a:endParaRPr lang="en-US" dirty="0"/>
          </a:p>
        </p:txBody>
      </p:sp>
      <p:graphicFrame>
        <p:nvGraphicFramePr>
          <p:cNvPr id="7" name="Table 6">
            <a:extLst>
              <a:ext uri="{FF2B5EF4-FFF2-40B4-BE49-F238E27FC236}">
                <a16:creationId xmlns:a16="http://schemas.microsoft.com/office/drawing/2014/main" id="{EABD239F-2D61-15E0-35D6-437EAAD8BC63}"/>
              </a:ext>
            </a:extLst>
          </p:cNvPr>
          <p:cNvGraphicFramePr>
            <a:graphicFrameLocks noGrp="1"/>
          </p:cNvGraphicFramePr>
          <p:nvPr>
            <p:extLst>
              <p:ext uri="{D42A27DB-BD31-4B8C-83A1-F6EECF244321}">
                <p14:modId xmlns:p14="http://schemas.microsoft.com/office/powerpoint/2010/main" val="1947019623"/>
              </p:ext>
            </p:extLst>
          </p:nvPr>
        </p:nvGraphicFramePr>
        <p:xfrm>
          <a:off x="1592827" y="2467897"/>
          <a:ext cx="9635612" cy="1986115"/>
        </p:xfrm>
        <a:graphic>
          <a:graphicData uri="http://schemas.openxmlformats.org/drawingml/2006/table">
            <a:tbl>
              <a:tblPr firstRow="1" firstCol="1" bandRow="1">
                <a:tableStyleId>{68D230F3-CF80-4859-8CE7-A43EE81993B5}</a:tableStyleId>
              </a:tblPr>
              <a:tblGrid>
                <a:gridCol w="1026227">
                  <a:extLst>
                    <a:ext uri="{9D8B030D-6E8A-4147-A177-3AD203B41FA5}">
                      <a16:colId xmlns:a16="http://schemas.microsoft.com/office/drawing/2014/main" val="1388012787"/>
                    </a:ext>
                  </a:extLst>
                </a:gridCol>
                <a:gridCol w="2535574">
                  <a:extLst>
                    <a:ext uri="{9D8B030D-6E8A-4147-A177-3AD203B41FA5}">
                      <a16:colId xmlns:a16="http://schemas.microsoft.com/office/drawing/2014/main" val="2428644300"/>
                    </a:ext>
                  </a:extLst>
                </a:gridCol>
                <a:gridCol w="1349736">
                  <a:extLst>
                    <a:ext uri="{9D8B030D-6E8A-4147-A177-3AD203B41FA5}">
                      <a16:colId xmlns:a16="http://schemas.microsoft.com/office/drawing/2014/main" val="2314080552"/>
                    </a:ext>
                  </a:extLst>
                </a:gridCol>
                <a:gridCol w="1446145">
                  <a:extLst>
                    <a:ext uri="{9D8B030D-6E8A-4147-A177-3AD203B41FA5}">
                      <a16:colId xmlns:a16="http://schemas.microsoft.com/office/drawing/2014/main" val="2780160844"/>
                    </a:ext>
                  </a:extLst>
                </a:gridCol>
                <a:gridCol w="3277930">
                  <a:extLst>
                    <a:ext uri="{9D8B030D-6E8A-4147-A177-3AD203B41FA5}">
                      <a16:colId xmlns:a16="http://schemas.microsoft.com/office/drawing/2014/main" val="703505985"/>
                    </a:ext>
                  </a:extLst>
                </a:gridCol>
              </a:tblGrid>
              <a:tr h="808177">
                <a:tc>
                  <a:txBody>
                    <a:bodyPr/>
                    <a:lstStyle/>
                    <a:p>
                      <a:pPr marL="0" marR="0" algn="ctr">
                        <a:lnSpc>
                          <a:spcPct val="115000"/>
                        </a:lnSpc>
                        <a:spcAft>
                          <a:spcPts val="800"/>
                        </a:spcAft>
                        <a:buNone/>
                      </a:pPr>
                      <a:r>
                        <a:rPr lang="en-US" sz="1400" kern="100">
                          <a:effectLst/>
                        </a:rPr>
                        <a:t>Model Number</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400" kern="100">
                          <a:effectLst/>
                        </a:rPr>
                        <a:t>Method</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400" kern="100">
                          <a:effectLst/>
                        </a:rPr>
                        <a:t>R</a:t>
                      </a:r>
                      <a:r>
                        <a:rPr lang="en-US" sz="1400" kern="100" baseline="30000">
                          <a:effectLst/>
                        </a:rPr>
                        <a:t>2 </a:t>
                      </a:r>
                      <a:r>
                        <a:rPr lang="en-US" sz="1400" kern="100">
                          <a:effectLst/>
                        </a:rPr>
                        <a:t>Value </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400" kern="100">
                          <a:effectLst/>
                        </a:rPr>
                        <a:t>Found Alpha</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400" kern="100">
                          <a:effectLst/>
                        </a:rPr>
                        <a:t>RMSE/ MSE / MAE</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804571030"/>
                  </a:ext>
                </a:extLst>
              </a:tr>
              <a:tr h="392646">
                <a:tc>
                  <a:txBody>
                    <a:bodyPr/>
                    <a:lstStyle/>
                    <a:p>
                      <a:pPr marL="0" marR="0" algn="ctr">
                        <a:lnSpc>
                          <a:spcPct val="115000"/>
                        </a:lnSpc>
                        <a:spcAft>
                          <a:spcPts val="800"/>
                        </a:spcAft>
                        <a:buNone/>
                      </a:pPr>
                      <a:r>
                        <a:rPr lang="en-US" sz="1400" kern="100">
                          <a:effectLst/>
                        </a:rPr>
                        <a:t>1</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400" kern="100">
                          <a:effectLst/>
                        </a:rPr>
                        <a:t>OLS Model </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400" kern="100">
                          <a:effectLst/>
                        </a:rPr>
                        <a:t>-0.2282</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400" kern="100">
                          <a:effectLst/>
                        </a:rPr>
                        <a:t>N/A</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400" kern="100">
                          <a:effectLst/>
                        </a:rPr>
                        <a:t>1230.177 / 35.074 / 24.516</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14618659"/>
                  </a:ext>
                </a:extLst>
              </a:tr>
              <a:tr h="392646">
                <a:tc>
                  <a:txBody>
                    <a:bodyPr/>
                    <a:lstStyle/>
                    <a:p>
                      <a:pPr marL="0" marR="0" algn="ctr">
                        <a:lnSpc>
                          <a:spcPct val="115000"/>
                        </a:lnSpc>
                        <a:spcAft>
                          <a:spcPts val="800"/>
                        </a:spcAft>
                        <a:buNone/>
                      </a:pPr>
                      <a:r>
                        <a:rPr lang="en-US" sz="1400" kern="100">
                          <a:effectLst/>
                        </a:rPr>
                        <a:t>2</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400" kern="100">
                          <a:effectLst/>
                        </a:rPr>
                        <a:t>Ridge Model (cv = 5)</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400" kern="100">
                          <a:effectLst/>
                        </a:rPr>
                        <a:t>-0.0305</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400" kern="100">
                          <a:effectLst/>
                        </a:rPr>
                        <a:t>572.236</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400" kern="100">
                          <a:effectLst/>
                        </a:rPr>
                        <a:t>1032.155 / 32.127 / 22.089</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835131639"/>
                  </a:ext>
                </a:extLst>
              </a:tr>
              <a:tr h="392646">
                <a:tc>
                  <a:txBody>
                    <a:bodyPr/>
                    <a:lstStyle/>
                    <a:p>
                      <a:pPr marL="0" marR="0" algn="ctr">
                        <a:lnSpc>
                          <a:spcPct val="115000"/>
                        </a:lnSpc>
                        <a:spcAft>
                          <a:spcPts val="800"/>
                        </a:spcAft>
                        <a:buNone/>
                      </a:pPr>
                      <a:r>
                        <a:rPr lang="en-US" sz="1400" kern="100">
                          <a:effectLst/>
                        </a:rPr>
                        <a:t>3</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400" kern="100">
                          <a:effectLst/>
                        </a:rPr>
                        <a:t>Lasso  Model (cv = 5)</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400" kern="100">
                          <a:effectLst/>
                        </a:rPr>
                        <a:t>-0.0341</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400" kern="100">
                          <a:effectLst/>
                        </a:rPr>
                        <a:t>1.072</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400" kern="100" dirty="0">
                          <a:effectLst/>
                        </a:rPr>
                        <a:t>1035.806 / 32.184 / 22.087</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248195136"/>
                  </a:ext>
                </a:extLst>
              </a:tr>
            </a:tbl>
          </a:graphicData>
        </a:graphic>
      </p:graphicFrame>
    </p:spTree>
    <p:extLst>
      <p:ext uri="{BB962C8B-B14F-4D97-AF65-F5344CB8AC3E}">
        <p14:creationId xmlns:p14="http://schemas.microsoft.com/office/powerpoint/2010/main" val="24081145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CF1CF-ACAC-7C98-82AD-AB30760DF37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1E5E7F6-8BFE-FE16-F6AC-EE3671F661D2}"/>
              </a:ext>
            </a:extLst>
          </p:cNvPr>
          <p:cNvSpPr>
            <a:spLocks noGrp="1"/>
          </p:cNvSpPr>
          <p:nvPr>
            <p:ph type="title"/>
          </p:nvPr>
        </p:nvSpPr>
        <p:spPr>
          <a:xfrm>
            <a:off x="953728" y="262487"/>
            <a:ext cx="11012129" cy="1202519"/>
          </a:xfrm>
        </p:spPr>
        <p:txBody>
          <a:bodyPr/>
          <a:lstStyle/>
          <a:p>
            <a:r>
              <a:rPr lang="en-US" dirty="0"/>
              <a:t>Modeling &amp; Analysis: Predictive Regressions</a:t>
            </a:r>
            <a:endParaRPr lang="en-ZA" dirty="0"/>
          </a:p>
        </p:txBody>
      </p:sp>
      <p:sp>
        <p:nvSpPr>
          <p:cNvPr id="2" name="Content Placeholder 1">
            <a:extLst>
              <a:ext uri="{FF2B5EF4-FFF2-40B4-BE49-F238E27FC236}">
                <a16:creationId xmlns:a16="http://schemas.microsoft.com/office/drawing/2014/main" id="{7E8FBE54-FCE0-E8D9-5DB0-071C79625ECC}"/>
              </a:ext>
            </a:extLst>
          </p:cNvPr>
          <p:cNvSpPr>
            <a:spLocks noGrp="1"/>
          </p:cNvSpPr>
          <p:nvPr>
            <p:ph sz="quarter" idx="11"/>
          </p:nvPr>
        </p:nvSpPr>
        <p:spPr>
          <a:xfrm>
            <a:off x="1032387" y="1278193"/>
            <a:ext cx="10933469" cy="5034117"/>
          </a:xfrm>
        </p:spPr>
        <p:txBody>
          <a:bodyPr>
            <a:normAutofit/>
          </a:bodyPr>
          <a:lstStyle/>
          <a:p>
            <a:pPr marL="342900" indent="-342900">
              <a:buFont typeface="Arial" panose="020B0604020202020204" pitchFamily="34" charset="0"/>
              <a:buChar char="•"/>
            </a:pPr>
            <a:r>
              <a:rPr lang="en-US" dirty="0"/>
              <a:t>All predictive models perform poorly on held-out test data, with negative R² values.</a:t>
            </a:r>
          </a:p>
          <a:p>
            <a:pPr marL="342900" indent="-342900">
              <a:buFont typeface="Arial" panose="020B0604020202020204" pitchFamily="34" charset="0"/>
              <a:buChar char="•"/>
            </a:pPr>
            <a:r>
              <a:rPr lang="en-US" dirty="0"/>
              <a:t>This indicates that the available features do not meaningfully predict changes in EUI</a:t>
            </a:r>
          </a:p>
          <a:p>
            <a:pPr marL="342900" indent="-342900">
              <a:buFont typeface="Arial" panose="020B0604020202020204" pitchFamily="34" charset="0"/>
              <a:buChar char="•"/>
            </a:pPr>
            <a:r>
              <a:rPr lang="en-US" dirty="0"/>
              <a:t>Tree focused variables do not show up as important predictors in these models. </a:t>
            </a:r>
          </a:p>
          <a:p>
            <a:pPr marL="342900" indent="-342900">
              <a:buFont typeface="Arial" panose="020B0604020202020204" pitchFamily="34" charset="0"/>
              <a:buChar char="•"/>
            </a:pPr>
            <a:r>
              <a:rPr lang="en-US" dirty="0"/>
              <a:t>The weak performance suggests that:</a:t>
            </a:r>
          </a:p>
          <a:p>
            <a:pPr marL="1028700" lvl="2" indent="-342900"/>
            <a:r>
              <a:rPr lang="en-US" dirty="0"/>
              <a:t>Key drivers of energy use variation are unobserved, or </a:t>
            </a:r>
          </a:p>
          <a:p>
            <a:pPr marL="1028700" lvl="2" indent="-342900"/>
            <a:r>
              <a:rPr lang="en-US" dirty="0"/>
              <a:t>Relationships between features and EUI are non-linear</a:t>
            </a:r>
          </a:p>
          <a:p>
            <a:pPr marL="342900" indent="-342900">
              <a:buFont typeface="Arial" panose="020B0604020202020204" pitchFamily="34" charset="0"/>
              <a:buChar char="•"/>
            </a:pPr>
            <a:r>
              <a:rPr lang="en-US" dirty="0"/>
              <a:t>These findings reinforce the DID results, suggesting limited detectable impact of trees on energy use for this building subset.</a:t>
            </a:r>
          </a:p>
        </p:txBody>
      </p:sp>
      <p:sp>
        <p:nvSpPr>
          <p:cNvPr id="5" name="Slide Number Placeholder 4">
            <a:extLst>
              <a:ext uri="{FF2B5EF4-FFF2-40B4-BE49-F238E27FC236}">
                <a16:creationId xmlns:a16="http://schemas.microsoft.com/office/drawing/2014/main" id="{4FAB2FE9-1417-2A53-AD2A-28E8EB817201}"/>
              </a:ext>
            </a:extLst>
          </p:cNvPr>
          <p:cNvSpPr>
            <a:spLocks noGrp="1"/>
          </p:cNvSpPr>
          <p:nvPr>
            <p:ph type="sldNum" sz="quarter" idx="15"/>
          </p:nvPr>
        </p:nvSpPr>
        <p:spPr/>
        <p:txBody>
          <a:bodyPr/>
          <a:lstStyle/>
          <a:p>
            <a:fld id="{18D65601-5AE2-46FC-B138-694DDD2B510D}" type="slidenum">
              <a:rPr lang="en-US" smtClean="0"/>
              <a:pPr/>
              <a:t>37</a:t>
            </a:fld>
            <a:endParaRPr lang="en-US" dirty="0"/>
          </a:p>
        </p:txBody>
      </p:sp>
    </p:spTree>
    <p:extLst>
      <p:ext uri="{BB962C8B-B14F-4D97-AF65-F5344CB8AC3E}">
        <p14:creationId xmlns:p14="http://schemas.microsoft.com/office/powerpoint/2010/main" val="6308324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C8BAB-4CB7-C65F-E0CD-ABA7AF75A57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EA2ADB43-A567-C287-BD11-A4F54C31E503}"/>
              </a:ext>
            </a:extLst>
          </p:cNvPr>
          <p:cNvSpPr txBox="1">
            <a:spLocks/>
          </p:cNvSpPr>
          <p:nvPr/>
        </p:nvSpPr>
        <p:spPr>
          <a:xfrm>
            <a:off x="1038031" y="1068169"/>
            <a:ext cx="10115939" cy="2681549"/>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bg1"/>
                </a:solidFill>
                <a:latin typeface="+mj-lt"/>
                <a:ea typeface="+mj-ea"/>
                <a:cs typeface="+mj-cs"/>
              </a:defRPr>
            </a:lvl1pPr>
          </a:lstStyle>
          <a:p>
            <a:pPr algn="ctr"/>
            <a:r>
              <a:rPr lang="en-US" dirty="0"/>
              <a:t>Conclusions &amp; Future Work</a:t>
            </a:r>
            <a:endParaRPr lang="en-ZA" dirty="0"/>
          </a:p>
        </p:txBody>
      </p:sp>
      <p:cxnSp>
        <p:nvCxnSpPr>
          <p:cNvPr id="11" name="Straight Connector 10">
            <a:extLst>
              <a:ext uri="{FF2B5EF4-FFF2-40B4-BE49-F238E27FC236}">
                <a16:creationId xmlns:a16="http://schemas.microsoft.com/office/drawing/2014/main" id="{FBB3E6A8-0848-2459-BF2F-CE0C38606FC9}"/>
              </a:ext>
            </a:extLst>
          </p:cNvPr>
          <p:cNvCxnSpPr>
            <a:cxnSpLocks/>
          </p:cNvCxnSpPr>
          <p:nvPr/>
        </p:nvCxnSpPr>
        <p:spPr>
          <a:xfrm flipH="1">
            <a:off x="0" y="894735"/>
            <a:ext cx="11277600" cy="0"/>
          </a:xfrm>
          <a:prstGeom prst="line">
            <a:avLst/>
          </a:prstGeom>
          <a:ln>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1AB0812-1F5F-8911-82C6-A2BA39036419}"/>
              </a:ext>
            </a:extLst>
          </p:cNvPr>
          <p:cNvCxnSpPr>
            <a:cxnSpLocks/>
          </p:cNvCxnSpPr>
          <p:nvPr/>
        </p:nvCxnSpPr>
        <p:spPr>
          <a:xfrm>
            <a:off x="11277600" y="894735"/>
            <a:ext cx="0" cy="5068530"/>
          </a:xfrm>
          <a:prstGeom prst="line">
            <a:avLst/>
          </a:prstGeom>
          <a:ln>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5499ACA-B4A9-90EA-584E-3F164FC99B7B}"/>
              </a:ext>
            </a:extLst>
          </p:cNvPr>
          <p:cNvCxnSpPr>
            <a:cxnSpLocks/>
          </p:cNvCxnSpPr>
          <p:nvPr/>
        </p:nvCxnSpPr>
        <p:spPr>
          <a:xfrm>
            <a:off x="914400" y="5963265"/>
            <a:ext cx="10363200" cy="0"/>
          </a:xfrm>
          <a:prstGeom prst="line">
            <a:avLst/>
          </a:prstGeom>
          <a:ln>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54765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6FF21-0F35-3787-308C-5849015362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D2659F-BD1A-5F9F-82B8-B76AF8569910}"/>
              </a:ext>
            </a:extLst>
          </p:cNvPr>
          <p:cNvSpPr>
            <a:spLocks noGrp="1"/>
          </p:cNvSpPr>
          <p:nvPr>
            <p:ph type="title"/>
          </p:nvPr>
        </p:nvSpPr>
        <p:spPr>
          <a:xfrm>
            <a:off x="1468815" y="503852"/>
            <a:ext cx="9150675" cy="1427585"/>
          </a:xfrm>
        </p:spPr>
        <p:txBody>
          <a:bodyPr/>
          <a:lstStyle/>
          <a:p>
            <a:r>
              <a:rPr lang="en-ZA" dirty="0"/>
              <a:t>Findings</a:t>
            </a:r>
          </a:p>
        </p:txBody>
      </p:sp>
      <p:sp>
        <p:nvSpPr>
          <p:cNvPr id="4" name="Slide Number Placeholder 3">
            <a:extLst>
              <a:ext uri="{FF2B5EF4-FFF2-40B4-BE49-F238E27FC236}">
                <a16:creationId xmlns:a16="http://schemas.microsoft.com/office/drawing/2014/main" id="{F910191D-7FF3-6C57-C64D-685E03BCA4A4}"/>
              </a:ext>
            </a:extLst>
          </p:cNvPr>
          <p:cNvSpPr>
            <a:spLocks noGrp="1"/>
          </p:cNvSpPr>
          <p:nvPr>
            <p:ph type="sldNum" sz="quarter" idx="15"/>
          </p:nvPr>
        </p:nvSpPr>
        <p:spPr/>
        <p:txBody>
          <a:bodyPr/>
          <a:lstStyle/>
          <a:p>
            <a:fld id="{18D65601-5AE2-46FC-B138-694DDD2B510D}" type="slidenum">
              <a:rPr lang="en-US" smtClean="0"/>
              <a:pPr/>
              <a:t>39</a:t>
            </a:fld>
            <a:endParaRPr lang="en-US" dirty="0"/>
          </a:p>
        </p:txBody>
      </p:sp>
      <p:sp>
        <p:nvSpPr>
          <p:cNvPr id="6" name="Rectangle 2">
            <a:extLst>
              <a:ext uri="{FF2B5EF4-FFF2-40B4-BE49-F238E27FC236}">
                <a16:creationId xmlns:a16="http://schemas.microsoft.com/office/drawing/2014/main" id="{6C70CBCC-F016-C99C-13D0-E8C523670325}"/>
              </a:ext>
            </a:extLst>
          </p:cNvPr>
          <p:cNvSpPr>
            <a:spLocks noGrp="1" noChangeArrowheads="1"/>
          </p:cNvSpPr>
          <p:nvPr>
            <p:ph sz="quarter" idx="12"/>
          </p:nvPr>
        </p:nvSpPr>
        <p:spPr bwMode="auto">
          <a:xfrm>
            <a:off x="1468815" y="2164499"/>
            <a:ext cx="9916940"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altLang="en-US" sz="1800" dirty="0"/>
              <a:t>Across all modeling approaches, no statistically significant relationship was found between changes in tree canopy coverage and changes in weather normalized energy use intensity (EUI) for the multifamily residential buildings examined.</a:t>
            </a:r>
          </a:p>
          <a:p>
            <a:r>
              <a:rPr lang="en-US" altLang="en-US" sz="1800" dirty="0"/>
              <a:t>Difference-in-differences models produced low explanatory power, with canopy change coefficients consistently not statistically significant.</a:t>
            </a:r>
          </a:p>
          <a:p>
            <a:r>
              <a:rPr lang="en-US" altLang="en-US" sz="1800" dirty="0"/>
              <a:t>Predictive regression models (OLS, Ridge, and Lasso) also performed poorly, yielding negative R² values on test data.</a:t>
            </a:r>
          </a:p>
          <a:p>
            <a:r>
              <a:rPr lang="en-US" altLang="en-US" sz="1800" dirty="0"/>
              <a:t>The 1950–1980 year-built bracket was the only feature that consistently showed a statistically significant relationship with EUI variation.</a:t>
            </a:r>
          </a:p>
          <a:p>
            <a:r>
              <a:rPr lang="en-US" altLang="en-US" sz="1800" dirty="0"/>
              <a:t>Overall, these results suggest that building characteristics play a larger role than nearby tree presence in explaining energy use for this subset of buildings</a:t>
            </a:r>
          </a:p>
        </p:txBody>
      </p:sp>
    </p:spTree>
    <p:extLst>
      <p:ext uri="{BB962C8B-B14F-4D97-AF65-F5344CB8AC3E}">
        <p14:creationId xmlns:p14="http://schemas.microsoft.com/office/powerpoint/2010/main" val="41856667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0CC8A-AD2E-388A-E153-23CC10A6F7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54588A-3BDB-6840-27CA-6F3971E8C663}"/>
              </a:ext>
            </a:extLst>
          </p:cNvPr>
          <p:cNvSpPr>
            <a:spLocks noGrp="1"/>
          </p:cNvSpPr>
          <p:nvPr>
            <p:ph type="title"/>
          </p:nvPr>
        </p:nvSpPr>
        <p:spPr>
          <a:xfrm>
            <a:off x="1468815" y="503852"/>
            <a:ext cx="9150675" cy="1040307"/>
          </a:xfrm>
        </p:spPr>
        <p:txBody>
          <a:bodyPr/>
          <a:lstStyle/>
          <a:p>
            <a:r>
              <a:rPr lang="en-ZA" dirty="0"/>
              <a:t>Challenges</a:t>
            </a:r>
          </a:p>
        </p:txBody>
      </p:sp>
      <p:sp>
        <p:nvSpPr>
          <p:cNvPr id="4" name="Slide Number Placeholder 3">
            <a:extLst>
              <a:ext uri="{FF2B5EF4-FFF2-40B4-BE49-F238E27FC236}">
                <a16:creationId xmlns:a16="http://schemas.microsoft.com/office/drawing/2014/main" id="{74EA9C56-9F6C-298F-F8E8-9A32B72776CA}"/>
              </a:ext>
            </a:extLst>
          </p:cNvPr>
          <p:cNvSpPr>
            <a:spLocks noGrp="1"/>
          </p:cNvSpPr>
          <p:nvPr>
            <p:ph type="sldNum" sz="quarter" idx="15"/>
          </p:nvPr>
        </p:nvSpPr>
        <p:spPr/>
        <p:txBody>
          <a:bodyPr/>
          <a:lstStyle/>
          <a:p>
            <a:fld id="{18D65601-5AE2-46FC-B138-694DDD2B510D}" type="slidenum">
              <a:rPr lang="en-US" smtClean="0"/>
              <a:pPr/>
              <a:t>40</a:t>
            </a:fld>
            <a:endParaRPr lang="en-US" dirty="0"/>
          </a:p>
        </p:txBody>
      </p:sp>
      <p:sp>
        <p:nvSpPr>
          <p:cNvPr id="6" name="Rectangle 2">
            <a:extLst>
              <a:ext uri="{FF2B5EF4-FFF2-40B4-BE49-F238E27FC236}">
                <a16:creationId xmlns:a16="http://schemas.microsoft.com/office/drawing/2014/main" id="{D244EDED-CD53-E59C-C051-2B4856D920A3}"/>
              </a:ext>
            </a:extLst>
          </p:cNvPr>
          <p:cNvSpPr>
            <a:spLocks noGrp="1" noChangeArrowheads="1"/>
          </p:cNvSpPr>
          <p:nvPr>
            <p:ph sz="quarter" idx="12"/>
          </p:nvPr>
        </p:nvSpPr>
        <p:spPr bwMode="auto">
          <a:xfrm>
            <a:off x="1468815" y="2067380"/>
            <a:ext cx="9720295"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altLang="en-US" sz="1800" dirty="0"/>
              <a:t>Local Law 84 reporting primarily covers larger residential buildings, where the energy impacts of nearby trees are likely diminished compared to smaller structures.</a:t>
            </a:r>
          </a:p>
          <a:p>
            <a:r>
              <a:rPr lang="en-US" altLang="en-US" sz="1800" dirty="0"/>
              <a:t>Many studies in the existing literature focus on single-family or low-rise homes, limiting direct comparability with this analysis.</a:t>
            </a:r>
          </a:p>
          <a:p>
            <a:r>
              <a:rPr lang="en-US" altLang="en-US" sz="1800" dirty="0"/>
              <a:t>Tree-related data lacked important attributes such as tree age, size, and canopy density, which influence shading and wind-blocking effects.</a:t>
            </a:r>
          </a:p>
          <a:p>
            <a:r>
              <a:rPr lang="en-US" altLang="en-US" sz="1800" dirty="0"/>
              <a:t>The forestry tree inventory used may reflect data collected after 2010, introducing uncertainty in baseline tree presence.</a:t>
            </a:r>
          </a:p>
          <a:p>
            <a:r>
              <a:rPr lang="en-US" altLang="en-US" sz="1800" dirty="0"/>
              <a:t>The analysis was constrained to two time points (2010 and 2017), limiting the ability to observe longer-term trends.</a:t>
            </a:r>
          </a:p>
        </p:txBody>
      </p:sp>
    </p:spTree>
    <p:extLst>
      <p:ext uri="{BB962C8B-B14F-4D97-AF65-F5344CB8AC3E}">
        <p14:creationId xmlns:p14="http://schemas.microsoft.com/office/powerpoint/2010/main" val="38085063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44320-9C01-230B-706F-BACFCCAFE8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1493E4-7BD8-360A-35B5-779E2DC9A469}"/>
              </a:ext>
            </a:extLst>
          </p:cNvPr>
          <p:cNvSpPr>
            <a:spLocks noGrp="1"/>
          </p:cNvSpPr>
          <p:nvPr>
            <p:ph type="title"/>
          </p:nvPr>
        </p:nvSpPr>
        <p:spPr>
          <a:xfrm>
            <a:off x="1468815" y="503852"/>
            <a:ext cx="9150675" cy="1427585"/>
          </a:xfrm>
        </p:spPr>
        <p:txBody>
          <a:bodyPr/>
          <a:lstStyle/>
          <a:p>
            <a:r>
              <a:rPr lang="en-ZA" dirty="0"/>
              <a:t>Future Work</a:t>
            </a:r>
          </a:p>
        </p:txBody>
      </p:sp>
      <p:sp>
        <p:nvSpPr>
          <p:cNvPr id="4" name="Slide Number Placeholder 3">
            <a:extLst>
              <a:ext uri="{FF2B5EF4-FFF2-40B4-BE49-F238E27FC236}">
                <a16:creationId xmlns:a16="http://schemas.microsoft.com/office/drawing/2014/main" id="{E822608C-084D-FAD7-C138-4B5682F55296}"/>
              </a:ext>
            </a:extLst>
          </p:cNvPr>
          <p:cNvSpPr>
            <a:spLocks noGrp="1"/>
          </p:cNvSpPr>
          <p:nvPr>
            <p:ph type="sldNum" sz="quarter" idx="15"/>
          </p:nvPr>
        </p:nvSpPr>
        <p:spPr/>
        <p:txBody>
          <a:bodyPr/>
          <a:lstStyle/>
          <a:p>
            <a:fld id="{18D65601-5AE2-46FC-B138-694DDD2B510D}" type="slidenum">
              <a:rPr lang="en-US" smtClean="0"/>
              <a:pPr/>
              <a:t>41</a:t>
            </a:fld>
            <a:endParaRPr lang="en-US" dirty="0"/>
          </a:p>
        </p:txBody>
      </p:sp>
      <p:sp>
        <p:nvSpPr>
          <p:cNvPr id="6" name="Rectangle 2">
            <a:extLst>
              <a:ext uri="{FF2B5EF4-FFF2-40B4-BE49-F238E27FC236}">
                <a16:creationId xmlns:a16="http://schemas.microsoft.com/office/drawing/2014/main" id="{A5A203E2-3D66-E522-5498-09B094F7083B}"/>
              </a:ext>
            </a:extLst>
          </p:cNvPr>
          <p:cNvSpPr>
            <a:spLocks noGrp="1" noChangeArrowheads="1"/>
          </p:cNvSpPr>
          <p:nvPr>
            <p:ph sz="quarter" idx="12"/>
          </p:nvPr>
        </p:nvSpPr>
        <p:spPr bwMode="auto">
          <a:xfrm>
            <a:off x="1468815" y="2636767"/>
            <a:ext cx="9720295" cy="2339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dirty="0"/>
              <a:t>Integrate data from the 2025 NYC Tree Census when available and leverage additional years of Local Law 84 energy benchmarking data (including 2015 and 2025) to incorporate more detailed tree attributes and introduce greater temporal depth into the analysis.</a:t>
            </a:r>
          </a:p>
          <a:p>
            <a:r>
              <a:rPr lang="en-US" altLang="en-US" sz="1800" dirty="0"/>
              <a:t>Incorporate NYC Department of Buildings permit and renovation data to control for building upgrades over time.</a:t>
            </a:r>
          </a:p>
          <a:p>
            <a:r>
              <a:rPr lang="en-US" altLang="en-US" sz="1800" dirty="0"/>
              <a:t>Expand the scope to include smaller residential buildings if comparable energy use data becomes available (e.g., Local Law 84 Amendments, Third Party Building data, etc.)</a:t>
            </a:r>
          </a:p>
        </p:txBody>
      </p:sp>
    </p:spTree>
    <p:extLst>
      <p:ext uri="{BB962C8B-B14F-4D97-AF65-F5344CB8AC3E}">
        <p14:creationId xmlns:p14="http://schemas.microsoft.com/office/powerpoint/2010/main" val="40778089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01732C-7338-DBA0-BD19-1FA88304749F}"/>
              </a:ext>
            </a:extLst>
          </p:cNvPr>
          <p:cNvSpPr>
            <a:spLocks noGrp="1"/>
          </p:cNvSpPr>
          <p:nvPr>
            <p:ph type="title"/>
          </p:nvPr>
        </p:nvSpPr>
        <p:spPr>
          <a:xfrm>
            <a:off x="1317614" y="690511"/>
            <a:ext cx="4964671" cy="5253089"/>
          </a:xfrm>
        </p:spPr>
        <p:txBody>
          <a:bodyPr/>
          <a:lstStyle/>
          <a:p>
            <a:r>
              <a:rPr lang="en-US" dirty="0"/>
              <a:t>Thank</a:t>
            </a:r>
            <a:br>
              <a:rPr lang="en-US" dirty="0"/>
            </a:br>
            <a:r>
              <a:rPr lang="en-US" dirty="0"/>
              <a:t>you!</a:t>
            </a:r>
          </a:p>
        </p:txBody>
      </p:sp>
      <p:sp>
        <p:nvSpPr>
          <p:cNvPr id="2" name="Content Placeholder 1">
            <a:extLst>
              <a:ext uri="{FF2B5EF4-FFF2-40B4-BE49-F238E27FC236}">
                <a16:creationId xmlns:a16="http://schemas.microsoft.com/office/drawing/2014/main" id="{70ECFE66-A9E7-A365-967B-2FD670CB3923}"/>
              </a:ext>
            </a:extLst>
          </p:cNvPr>
          <p:cNvSpPr>
            <a:spLocks noGrp="1"/>
          </p:cNvSpPr>
          <p:nvPr>
            <p:ph sz="quarter" idx="10"/>
          </p:nvPr>
        </p:nvSpPr>
        <p:spPr>
          <a:xfrm>
            <a:off x="6282286" y="690465"/>
            <a:ext cx="4784372" cy="5253089"/>
          </a:xfrm>
        </p:spPr>
        <p:txBody>
          <a:bodyPr/>
          <a:lstStyle/>
          <a:p>
            <a:r>
              <a:rPr lang="en-US" dirty="0"/>
              <a:t>John Ferrara</a:t>
            </a:r>
          </a:p>
          <a:p>
            <a:r>
              <a:rPr lang="en-US" dirty="0"/>
              <a:t>john.ferrara96@spsmail.cuny.edu</a:t>
            </a:r>
          </a:p>
        </p:txBody>
      </p:sp>
    </p:spTree>
    <p:extLst>
      <p:ext uri="{BB962C8B-B14F-4D97-AF65-F5344CB8AC3E}">
        <p14:creationId xmlns:p14="http://schemas.microsoft.com/office/powerpoint/2010/main" val="704370842"/>
      </p:ext>
    </p:extLst>
  </p:cSld>
  <p:clrMapOvr>
    <a:masterClrMapping/>
  </p:clrMapOvr>
</p:sld>
</file>

<file path=ppt/theme/theme1.xml><?xml version="1.0" encoding="utf-8"?>
<a:theme xmlns:a="http://schemas.openxmlformats.org/drawingml/2006/main" name="Custom">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Tisa Offc Serif Pro"/>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M78544816_Win32_SL_V10" id="{8934A6D9-B969-498F-A646-4B502FD69C4E}" vid="{AA78C1C8-456D-41A9-83FC-BC8B9A8EE3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6DE3707C-8CAB-4302-B7E1-D32E1543E05C}">
  <ds:schemaRefs>
    <ds:schemaRef ds:uri="http://schemas.microsoft.com/sharepoint/v3/contenttype/forms"/>
  </ds:schemaRefs>
</ds:datastoreItem>
</file>

<file path=customXml/itemProps2.xml><?xml version="1.0" encoding="utf-8"?>
<ds:datastoreItem xmlns:ds="http://schemas.openxmlformats.org/officeDocument/2006/customXml" ds:itemID="{B69E9DE5-EFFE-4262-A023-32732F0B6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FDB7358-0BCB-4DEB-B717-C1D7CC555F05}">
  <ds:schemaRefs>
    <ds:schemaRef ds:uri="230e9df3-be65-4c73-a93b-d1236ebd677e"/>
    <ds:schemaRef ds:uri="http://purl.org/dc/terms/"/>
    <ds:schemaRef ds:uri="http://schemas.microsoft.com/sharepoint/v3"/>
    <ds:schemaRef ds:uri="http://schemas.openxmlformats.org/package/2006/metadata/core-properties"/>
    <ds:schemaRef ds:uri="http://purl.org/dc/dcmitype/"/>
    <ds:schemaRef ds:uri="http://www.w3.org/XML/1998/namespace"/>
    <ds:schemaRef ds:uri="http://schemas.microsoft.com/office/2006/documentManagement/types"/>
    <ds:schemaRef ds:uri="http://purl.org/dc/elements/1.1/"/>
    <ds:schemaRef ds:uri="http://schemas.microsoft.com/office/2006/metadata/properties"/>
    <ds:schemaRef ds:uri="http://schemas.microsoft.com/office/infopath/2007/PartnerControls"/>
    <ds:schemaRef ds:uri="16c05727-aa75-4e4a-9b5f-8a80a1165891"/>
    <ds:schemaRef ds:uri="71af3243-3dd4-4a8d-8c0d-dd76da1f02a5"/>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{66726478-ED7E-4049-80F4-F49336D9281F}TF3977e381-cba5-49b1-ba43-b5d865517af907ebbda9_win32-372d4d6ae720</Template>
  <TotalTime>2514</TotalTime>
  <Words>3571</Words>
  <Application>Microsoft Office PowerPoint</Application>
  <PresentationFormat>Widescreen</PresentationFormat>
  <Paragraphs>510</Paragraphs>
  <Slides>42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Aptos</vt:lpstr>
      <vt:lpstr>Arial</vt:lpstr>
      <vt:lpstr>Calibri</vt:lpstr>
      <vt:lpstr>Tisa Offc Serif Pro</vt:lpstr>
      <vt:lpstr>Univers Light</vt:lpstr>
      <vt:lpstr>Custom</vt:lpstr>
      <vt:lpstr>Urban Tree Presence and Multifamily Residential Building Energy Use in New York City</vt:lpstr>
      <vt:lpstr>Agenda</vt:lpstr>
      <vt:lpstr>PowerPoint Presentation</vt:lpstr>
      <vt:lpstr>Introduction: The Motivation</vt:lpstr>
      <vt:lpstr>Introduction: Existing Tools &amp; Assumptions</vt:lpstr>
      <vt:lpstr>Introduction: Other Research</vt:lpstr>
      <vt:lpstr>Research Question</vt:lpstr>
      <vt:lpstr>Study Design</vt:lpstr>
      <vt:lpstr>Data Sources &amp; Processing</vt:lpstr>
      <vt:lpstr>Data Sources: Custom Dataset Needed</vt:lpstr>
      <vt:lpstr>Data Sources: Core Sources</vt:lpstr>
      <vt:lpstr>Data Processing: Part 1 (Buildings &amp; Energy)</vt:lpstr>
      <vt:lpstr>Data Processing: Part 1 (Buildings &amp; Energy)</vt:lpstr>
      <vt:lpstr>Data Processing: Part 2 (Trees)</vt:lpstr>
      <vt:lpstr>Data Processing: Part 2 (Trees)</vt:lpstr>
      <vt:lpstr>Data Processing: Part 3 (Last Mile)</vt:lpstr>
      <vt:lpstr>Working Dataset</vt:lpstr>
      <vt:lpstr>Working Dataset</vt:lpstr>
      <vt:lpstr>Working Dataset</vt:lpstr>
      <vt:lpstr>Working Dataset</vt:lpstr>
      <vt:lpstr>Working Dataset: Canopy Shifts</vt:lpstr>
      <vt:lpstr>Working Dataset: Building Count by Canopy Change</vt:lpstr>
      <vt:lpstr>Working Dataset: Building Counts by Year Built</vt:lpstr>
      <vt:lpstr>Working Dataset: Building Classification Counts</vt:lpstr>
      <vt:lpstr>Working Dataset: Pair Plot Numeric Features</vt:lpstr>
      <vt:lpstr>PowerPoint Presentation</vt:lpstr>
      <vt:lpstr>Working Dataset: Box Plots (Tree Counts)</vt:lpstr>
      <vt:lpstr>Working Dataset: Box Plots (EUI)</vt:lpstr>
      <vt:lpstr>Working Dataset: Box Plots (Delta EUI)</vt:lpstr>
      <vt:lpstr>Modeling &amp; Analysis</vt:lpstr>
      <vt:lpstr>Modeling &amp; Analysis</vt:lpstr>
      <vt:lpstr>Modeling &amp; Analysis: Difference-in-Differences (DID)</vt:lpstr>
      <vt:lpstr>Modeling &amp; Analysis: Difference-in-Differences (DID)</vt:lpstr>
      <vt:lpstr>Modeling &amp; Analysis: Difference-in-Differences (DID)</vt:lpstr>
      <vt:lpstr>Modeling &amp; Analysis: Predictive Regressions</vt:lpstr>
      <vt:lpstr>Modeling &amp; Analysis: Predictive Regressions</vt:lpstr>
      <vt:lpstr>Modeling &amp; Analysis: Predictive Regressions</vt:lpstr>
      <vt:lpstr>PowerPoint Presentation</vt:lpstr>
      <vt:lpstr>Findings</vt:lpstr>
      <vt:lpstr>Challenges</vt:lpstr>
      <vt:lpstr>Future Work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Ferrara</dc:creator>
  <cp:lastModifiedBy>John Ferrara</cp:lastModifiedBy>
  <cp:revision>24</cp:revision>
  <cp:lastPrinted>2025-12-14T23:31:43Z</cp:lastPrinted>
  <dcterms:created xsi:type="dcterms:W3CDTF">2025-12-14T01:08:19Z</dcterms:created>
  <dcterms:modified xsi:type="dcterms:W3CDTF">2025-12-16T17:06:46Z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